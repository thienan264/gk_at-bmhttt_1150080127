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4"/>
  </p:normalViewPr>
  <p:slideViewPr>
    <p:cSldViewPr snapToGrid="0" snapToObjects="1">
      <p:cViewPr varScale="1">
        <p:scale>
          <a:sx n="149" d="100"/>
          <a:sy n="149" d="100"/>
        </p:scale>
        <p:origin x="192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5581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Giới thiệu đề tài và phạm vi giữa kỳ. Đây là nguyên mẫu thực nghiệm, không phải sản phẩm đã được chứng nhận an toàn.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Nghiên cứu pháp lý/kiến trúc, không có dataset benchmark tương ứng để tái lập số liệu AES/RSA. Không nói hoàn toàn không liên quan. Không tuyên bố có thí nghiệm escrow mới. Nguồn: https://doi.org/10.1093/cybsec/tyag010; Abstract, mục key escrow và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Giả định khóa công khai của Bob được xác thực. Tag không tự xác thực danh tính Alice, và hiện chưa chống replay.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AES xử lý khối 16 byte bất kể độ dài khóa. GCM dùng chế độ counter và GHASH. Nguồn: NIST SP800-38D.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WrappedKeyLen và FilenameLen có trước dữ liệu. W hiện cố định256 vì RSA2048. Tên tính theo byteUTF8. GHASH dùng H=AES_K(0^128). Với IV12byte,J0=IV||00000001. Dòng khóa dùng counter sau J0; tag dùng J0. Trường độ dàiCT+tag8byte nằm ngoài header và được parser kiểm tra. Chỉ ký hiệu thuật toán trên slide, không thay thế đặc tả.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Năm vị trí minh họa không phải danh sách tấn công đầy đủ. Parser có thể từ chối sai magic/version/length trước GCM. Giả định kẻ sửa không có khóa; không hứa xác suất giả mạo bằng0. Không chống replay, không xác thực người gửi.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Private key còn có thể chứa p,q và CRT. Công khai n,e; giữbí mật d,p,q. e thường65537; không nói66735. KhóaAES vẫn32byte. RSA dùng OAEP, không dùng rawRSA để triểnkhai.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KhóaAES chỉ ở cuốiDBtrướcche, không ở cuốiwrappedkey. Seed32randomkhácK. MGF1 SHA256 nối seed/counter4B đểtạomask. dbMask=MGF1(seed,223),maskedDB=DB XORdbMask; seedMask=MGF1(maskedDB,32),maskedSeed=seed XORseedMask. Nguồn RFC8017mục7.1.1.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OAEP không tự xác thực người gửi. Bất kỳ ai cópublickeyđều có thể tạobảnmãOAEPmớihợplệ. Lỗi có thể do khóa sai,ciphertextsửa,cấu hìnhkhác. Khôngkhẳngđịnh mọi sửađổi chắcchắn tạoBadPadding.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RSA2048OAEPsha256 giới hạn190bytethôngđiệp, đủK32. Thuậtngữbọckhóa, khôngnénkhóa.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c=OS2IP(W);m biểudiễncảkhốiOAEPkhôngphảikhóaAEStrựctiếp. I2OSPđổisốthành256byte. Khóađúngphụthuộcvàđiềukiệngcd(e,lambda)=1.GCMtrảPhoặclỗi, chỉtrảdữliệusauxácthựcthànhcông. Khôngphảimộtchứngminhan toàntoànhệthống.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m7làvídụtoánhọc. TrongthựctếmđạidiệnkhốiOAEP.Vớin55ai cũngcóthểphântíchhoặcthửm;khôngcókhảnăngbảomật.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Nguồn https://github.com/usnistgov/ACVP-Server. Khônggọidữliệulàfilemẫutảisẵn. AES120case;webRSA20unwrap;validatorcụcbộ10wrap10unwraplưu riêng. Mởmanifest,verifier vàSecurePackageEngineđểchỉhàmdùngchung.Khôngcộngsốtestđểtuyênbốantoàntuyệtđối.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Chuyểnsangwebsẵnchạy.NhấpDEMOđểmởlocalhost8080.Mãhóa→giảimã→thửprivatekeykhác→bằngchứngkiểmthử.Successởtestkhóasailàtestđạt,vìrequestbịtừchối.Khôngđồngnghĩagiảimãthànhcông.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Khôngtuyênbốvượt paperhayđãchứngnhậnNIST.Giữphạmvigiữakỳ.Nguyênmẫuchưaquảnlýkhóathựctế,chốngreplay,xácthựcdanhtínhngườigửi.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0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3874" y="809625"/>
            <a:ext cx="76200" cy="4429125"/>
          </a:xfrm>
          <a:prstGeom prst="rect">
            <a:avLst/>
          </a:prstGeom>
          <a:solidFill>
            <a:srgbClr val="AA4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9625" y="857250"/>
            <a:ext cx="10648950" cy="295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500" b="0">
                <a:solidFill>
                  <a:srgbClr val="59636F"/>
                </a:solidFill>
                <a:latin typeface="Arial"/>
              </a:rPr>
              <a:t>BÁO CÁO GIỮA KỲ • AN TOÀN BẢO MẬT THÔNG 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625" y="1685925"/>
            <a:ext cx="10553700" cy="6791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450" b="1">
                <a:solidFill>
                  <a:srgbClr val="20262D"/>
                </a:solidFill>
                <a:latin typeface="Arial"/>
              </a:rPr>
              <a:t>XÂY DỰNG QUY TRÌNH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233612"/>
            <a:ext cx="10553700" cy="6791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450" b="1">
                <a:solidFill>
                  <a:srgbClr val="20262D"/>
                </a:solidFill>
                <a:latin typeface="Arial"/>
              </a:rPr>
              <a:t>MÃ HÓA LAI CHO TRAO ĐỔI TỆP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105150"/>
            <a:ext cx="10458450" cy="4724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0">
                <a:solidFill>
                  <a:srgbClr val="AA4A17"/>
                </a:solidFill>
                <a:latin typeface="Arial"/>
              </a:rPr>
              <a:t>AES-256-GCM kết hợp RSA-2048 OAEP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625" y="3905249"/>
            <a:ext cx="1009650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625" y="4286250"/>
            <a:ext cx="1045845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Sinh viên: Trần Phạm Thiên 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607718"/>
            <a:ext cx="1045845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Mã số sinh viên: 1150080127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3874" y="247649"/>
            <a:ext cx="11125200" cy="221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5" b="0">
                <a:solidFill>
                  <a:srgbClr val="59636F"/>
                </a:solidFill>
                <a:latin typeface="Arial"/>
              </a:rPr>
              <a:t>AN TOÀN BẢO MẬT THÔNG TIN • BÁO CÁO GIỮA KỲ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874" y="762000"/>
            <a:ext cx="11220450" cy="546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775" b="1">
                <a:solidFill>
                  <a:srgbClr val="20262D"/>
                </a:solidFill>
                <a:latin typeface="Arial"/>
              </a:rPr>
              <a:t>Tài liệu nền và phạm vi của đề tài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4" y="1362075"/>
            <a:ext cx="11144250" cy="11429"/>
          </a:xfrm>
          <a:prstGeom prst="rect">
            <a:avLst/>
          </a:prstGeom>
          <a:solidFill>
            <a:srgbClr val="AA4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3874" y="6486525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3874" y="6600825"/>
            <a:ext cx="9886950" cy="177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>
                <a:solidFill>
                  <a:srgbClr val="59636F"/>
                </a:solidFill>
                <a:latin typeface="Arial"/>
              </a:rPr>
              <a:t>Trần Phạm Thiên Ân | 1150080127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885825" cy="2066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>
                <a:solidFill>
                  <a:srgbClr val="59636F"/>
                </a:solidFill>
                <a:latin typeface="Arial"/>
              </a:rPr>
              <a:t>02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4" y="1685925"/>
            <a:ext cx="11220450" cy="4133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00" b="1">
                <a:solidFill>
                  <a:srgbClr val="20262D"/>
                </a:solidFill>
                <a:latin typeface="Arial"/>
              </a:rPr>
              <a:t>End-to-end encryption, chat control, and the future 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4" y="2019300"/>
            <a:ext cx="11220450" cy="4133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00" b="1">
                <a:solidFill>
                  <a:srgbClr val="20262D"/>
                </a:solidFill>
                <a:latin typeface="Arial"/>
              </a:rPr>
              <a:t>the right to encryption in digital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4" y="2505075"/>
            <a:ext cx="1122045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0">
                <a:solidFill>
                  <a:srgbClr val="59636F"/>
                </a:solidFill>
                <a:latin typeface="Arial"/>
              </a:rPr>
              <a:t>Marcin Rojszczak • Journal of Cybersecurity, 12(1),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4" y="3105150"/>
            <a:ext cx="1055370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Nội dung nghiên cứu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874" y="3476625"/>
            <a:ext cx="1112520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Quyền được mã hóa, E2EE và các mô hình tiếp cận dữ liệu của bên thứ ba; phân tích pháp lý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874" y="3798093"/>
            <a:ext cx="1112520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– kỹ thuật.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874" y="4391025"/>
            <a:ext cx="1055370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Liên hệ với nguyên mẫu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874" y="4762500"/>
            <a:ext cx="1112520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Ai giữ khóa? Ai đọc được dữ liệu? Phạm vi tin cậy của server?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874" y="6057900"/>
            <a:ext cx="11125200" cy="2657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50" b="0" dirty="0">
                <a:solidFill>
                  <a:srgbClr val="59636F"/>
                </a:solidFill>
                <a:latin typeface="Arial"/>
              </a:rPr>
              <a:t>DOI: 10.1093/</a:t>
            </a:r>
            <a:r>
              <a:rPr sz="1350" b="0" dirty="0" err="1">
                <a:solidFill>
                  <a:srgbClr val="59636F"/>
                </a:solidFill>
                <a:latin typeface="Arial"/>
              </a:rPr>
              <a:t>cybsec</a:t>
            </a:r>
            <a:r>
              <a:rPr sz="1350" b="0" dirty="0">
                <a:solidFill>
                  <a:srgbClr val="59636F"/>
                </a:solidFill>
                <a:latin typeface="Arial"/>
              </a:rPr>
              <a:t>/tyag010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3874" y="247649"/>
            <a:ext cx="11125200" cy="221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5" b="0">
                <a:solidFill>
                  <a:srgbClr val="59636F"/>
                </a:solidFill>
                <a:latin typeface="Arial"/>
              </a:rPr>
              <a:t>AN TOÀN BẢO MẬT THÔNG TIN • BÁO CÁO GIỮA KỲ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874" y="762000"/>
            <a:ext cx="11220450" cy="546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775" b="1">
                <a:solidFill>
                  <a:srgbClr val="20262D"/>
                </a:solidFill>
                <a:latin typeface="Arial"/>
              </a:rPr>
              <a:t>Vấn đề cần giải quyết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4" y="1362075"/>
            <a:ext cx="11144250" cy="11429"/>
          </a:xfrm>
          <a:prstGeom prst="rect">
            <a:avLst/>
          </a:prstGeom>
          <a:solidFill>
            <a:srgbClr val="AA4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3874" y="1562100"/>
            <a:ext cx="11220450" cy="3248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50" b="0">
                <a:solidFill>
                  <a:srgbClr val="59636F"/>
                </a:solidFill>
                <a:latin typeface="Arial"/>
              </a:rPr>
              <a:t>Làm sao để tệp truyền đi không bị lộ và phát hiện được sửa đổi?</a:t>
            </a:r>
          </a:p>
        </p:txBody>
      </p:sp>
      <p:sp>
        <p:nvSpPr>
          <p:cNvPr id="6" name="Rectangle 5"/>
          <p:cNvSpPr/>
          <p:nvPr/>
        </p:nvSpPr>
        <p:spPr>
          <a:xfrm>
            <a:off x="523874" y="6486525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3874" y="6600825"/>
            <a:ext cx="9886950" cy="177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>
                <a:solidFill>
                  <a:srgbClr val="59636F"/>
                </a:solidFill>
                <a:latin typeface="Arial"/>
              </a:rPr>
              <a:t>Trần Phạm Thiên Ân | 1150080127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6572250"/>
            <a:ext cx="885825" cy="2066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>
                <a:solidFill>
                  <a:srgbClr val="59636F"/>
                </a:solidFill>
                <a:latin typeface="Arial"/>
              </a:rPr>
              <a:t>03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4" y="2571750"/>
            <a:ext cx="245745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ALICE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4" y="3009900"/>
            <a:ext cx="2552700" cy="38385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950" b="0">
                <a:solidFill>
                  <a:srgbClr val="20262D"/>
                </a:solidFill>
                <a:latin typeface="Arial"/>
              </a:rPr>
              <a:t>Gửi tệp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0" y="2571750"/>
            <a:ext cx="245745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KÊNH TRUYỀN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250" y="3009900"/>
            <a:ext cx="2552700" cy="38385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950" b="0">
                <a:solidFill>
                  <a:srgbClr val="20262D"/>
                </a:solidFill>
                <a:latin typeface="Arial"/>
              </a:rPr>
              <a:t>Có thể bị nghe lén,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0" y="3319462"/>
            <a:ext cx="2552700" cy="38385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950" b="0">
                <a:solidFill>
                  <a:srgbClr val="20262D"/>
                </a:solidFill>
                <a:latin typeface="Arial"/>
              </a:rPr>
              <a:t>sửa đổi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9750" y="2571750"/>
            <a:ext cx="245745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BOB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9750" y="3009900"/>
            <a:ext cx="2552700" cy="38385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950" b="0">
                <a:solidFill>
                  <a:srgbClr val="20262D"/>
                </a:solidFill>
                <a:latin typeface="Arial"/>
              </a:rPr>
              <a:t>Nhận lại đúng tệp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1875" y="2790825"/>
            <a:ext cx="742950" cy="6348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225" b="0" dirty="0">
                <a:solidFill>
                  <a:srgbClr val="AA4A17"/>
                </a:solidFill>
                <a:latin typeface="Arial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9124" y="2790825"/>
            <a:ext cx="742950" cy="6348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225" b="0">
                <a:solidFill>
                  <a:srgbClr val="AA4A17"/>
                </a:solidFill>
                <a:latin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3874" y="4105274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3874" y="4429125"/>
            <a:ext cx="26670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AA4A17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4429125"/>
            <a:ext cx="1026795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Giữ bí mật nội dung tệp.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874" y="4953000"/>
            <a:ext cx="26670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AA4A17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4953000"/>
            <a:ext cx="1026795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Chuyển khóa AES cho đúng người nhận.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874" y="5476875"/>
            <a:ext cx="26670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AA4A17"/>
                </a:solidFill>
                <a:latin typeface="Arial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5476875"/>
            <a:ext cx="1026795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Từ chối gói bị thay đổi hoặc không hợp lệ.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3874" y="247649"/>
            <a:ext cx="11125200" cy="221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5" b="0">
                <a:solidFill>
                  <a:srgbClr val="59636F"/>
                </a:solidFill>
                <a:latin typeface="Arial"/>
              </a:rPr>
              <a:t>AN TOÀN BẢO MẬT THÔNG TIN • BÁO CÁO GIỮA KỲ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874" y="762000"/>
            <a:ext cx="11220450" cy="546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775" b="1">
                <a:solidFill>
                  <a:srgbClr val="20262D"/>
                </a:solidFill>
                <a:latin typeface="Arial"/>
              </a:rPr>
              <a:t>AES-GCM: mã hóa và xác thực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4" y="1362075"/>
            <a:ext cx="11144250" cy="11429"/>
          </a:xfrm>
          <a:prstGeom prst="rect">
            <a:avLst/>
          </a:prstGeom>
          <a:solidFill>
            <a:srgbClr val="AA4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3874" y="6486525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3874" y="6600825"/>
            <a:ext cx="9886950" cy="177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>
                <a:solidFill>
                  <a:srgbClr val="59636F"/>
                </a:solidFill>
                <a:latin typeface="Arial"/>
              </a:rPr>
              <a:t>Trần Phạm Thiên Ân | 1150080127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885825" cy="2066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>
                <a:solidFill>
                  <a:srgbClr val="59636F"/>
                </a:solidFill>
                <a:latin typeface="Arial"/>
              </a:rPr>
              <a:t>04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4" y="1990725"/>
            <a:ext cx="512445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AES – mã hóa đối xứng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4" y="2447925"/>
            <a:ext cx="5029200" cy="4281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75" b="0">
                <a:solidFill>
                  <a:srgbClr val="20262D"/>
                </a:solidFill>
                <a:latin typeface="Arial"/>
              </a:rPr>
              <a:t>Cùng khóa bí mật được dùng ở cả phía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4" y="2793206"/>
            <a:ext cx="5029200" cy="4281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75" b="0">
                <a:solidFill>
                  <a:srgbClr val="20262D"/>
                </a:solidFill>
                <a:latin typeface="Arial"/>
              </a:rPr>
              <a:t>mã hóa và giải mã.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4" y="3138487"/>
            <a:ext cx="5029200" cy="4281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874" y="3483768"/>
            <a:ext cx="5029200" cy="4281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75" b="0">
                <a:solidFill>
                  <a:srgbClr val="20262D"/>
                </a:solidFill>
                <a:latin typeface="Arial"/>
              </a:rPr>
              <a:t>Trong dự án: AES-256, khóa dài 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874" y="3829050"/>
            <a:ext cx="5029200" cy="4281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75" b="0">
                <a:solidFill>
                  <a:srgbClr val="20262D"/>
                </a:solidFill>
                <a:latin typeface="Arial"/>
              </a:rPr>
              <a:t>byte.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62650" y="2009774"/>
            <a:ext cx="14287" cy="3143250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7000" y="1990725"/>
            <a:ext cx="5267325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GCM – chế độ có xác thực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2447925"/>
            <a:ext cx="5219700" cy="4281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75" b="0">
                <a:solidFill>
                  <a:srgbClr val="20262D"/>
                </a:solidFill>
                <a:latin typeface="Arial"/>
              </a:rPr>
              <a:t>Mã hóa nội dung và tạo tag để kiểm 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2793206"/>
            <a:ext cx="5219700" cy="4281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75" b="0">
                <a:solidFill>
                  <a:srgbClr val="20262D"/>
                </a:solidFill>
                <a:latin typeface="Arial"/>
              </a:rPr>
              <a:t>toàn vẹn.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3138487"/>
            <a:ext cx="5219700" cy="4281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7000" y="3483768"/>
            <a:ext cx="5219700" cy="4281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75" b="0">
                <a:solidFill>
                  <a:srgbClr val="20262D"/>
                </a:solidFill>
                <a:latin typeface="Arial"/>
              </a:rPr>
              <a:t>AAD được xác thực nhưng không bị mã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3829050"/>
            <a:ext cx="5219700" cy="4281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75" b="0">
                <a:solidFill>
                  <a:srgbClr val="20262D"/>
                </a:solidFill>
                <a:latin typeface="Arial"/>
              </a:rPr>
              <a:t>hóa.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3874" y="5429250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3874" y="5715000"/>
            <a:ext cx="1122045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1">
                <a:solidFill>
                  <a:srgbClr val="20262D"/>
                </a:solidFill>
                <a:latin typeface="Arial"/>
              </a:rPr>
              <a:t>Thông số: khóa AES 32 byte • IV 12 byte • tag 16 byte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3874" y="247649"/>
            <a:ext cx="11125200" cy="221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5" b="0">
                <a:solidFill>
                  <a:srgbClr val="59636F"/>
                </a:solidFill>
                <a:latin typeface="Arial"/>
              </a:rPr>
              <a:t>AN TOÀN BẢO MẬT THÔNG TIN • BÁO CÁO GIỮA KỲ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874" y="762000"/>
            <a:ext cx="11220450" cy="546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775" b="1">
                <a:solidFill>
                  <a:srgbClr val="20262D"/>
                </a:solidFill>
                <a:latin typeface="Arial"/>
              </a:rPr>
              <a:t>Dựng header, mã hóa dữ liệu và tạo tag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4" y="1362075"/>
            <a:ext cx="11144250" cy="11429"/>
          </a:xfrm>
          <a:prstGeom prst="rect">
            <a:avLst/>
          </a:prstGeom>
          <a:solidFill>
            <a:srgbClr val="AA4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3874" y="6486525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3874" y="6600825"/>
            <a:ext cx="9886950" cy="177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>
                <a:solidFill>
                  <a:srgbClr val="59636F"/>
                </a:solidFill>
                <a:latin typeface="Arial"/>
              </a:rPr>
              <a:t>Trần Phạm Thiên Ân | 1150080127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885825" cy="2066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>
                <a:solidFill>
                  <a:srgbClr val="59636F"/>
                </a:solidFill>
                <a:latin typeface="Arial"/>
              </a:rPr>
              <a:t>05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4" y="1647825"/>
            <a:ext cx="1055370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1. Header của gói .secpkg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23874" y="2028825"/>
          <a:ext cx="11144247" cy="1049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54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Magic</a:t>
                      </a:r>
                    </a:p>
                  </a:txBody>
                  <a:tcPr marR="54864" marT="91440" marB="54864" anchor="ctr">
                    <a:solidFill>
                      <a:srgbClr val="2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Version</a:t>
                      </a:r>
                    </a:p>
                  </a:txBody>
                  <a:tcPr marR="54864" marT="91440" marB="54864" anchor="ctr">
                    <a:solidFill>
                      <a:srgbClr val="2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Flags</a:t>
                      </a:r>
                    </a:p>
                  </a:txBody>
                  <a:tcPr marR="54864" marT="91440" marB="54864" anchor="ctr">
                    <a:solidFill>
                      <a:srgbClr val="2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 len</a:t>
                      </a:r>
                    </a:p>
                  </a:txBody>
                  <a:tcPr marR="54864" marT="91440" marB="54864" anchor="ctr">
                    <a:solidFill>
                      <a:srgbClr val="2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Wrapped key</a:t>
                      </a:r>
                    </a:p>
                  </a:txBody>
                  <a:tcPr marR="54864" marT="91440" marB="54864" anchor="ctr">
                    <a:solidFill>
                      <a:srgbClr val="2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IV</a:t>
                      </a:r>
                    </a:p>
                  </a:txBody>
                  <a:tcPr marR="54864" marT="91440" marB="54864" anchor="ctr">
                    <a:solidFill>
                      <a:srgbClr val="2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 len</a:t>
                      </a:r>
                    </a:p>
                  </a:txBody>
                  <a:tcPr marR="54864" marT="91440" marB="54864" anchor="ctr">
                    <a:solidFill>
                      <a:srgbClr val="2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 UTF-8</a:t>
                      </a:r>
                    </a:p>
                  </a:txBody>
                  <a:tcPr marR="54864" marT="91440" marB="54864" anchor="ctr">
                    <a:solidFill>
                      <a:srgbClr val="20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62D"/>
                          </a:solidFill>
                          <a:latin typeface="Arial"/>
                        </a:rPr>
                        <a:t>SECP
4 byte</a:t>
                      </a:r>
                    </a:p>
                  </a:txBody>
                  <a:tcPr marR="54864" marT="91440" marB="54864" anchor="ctr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62D"/>
                          </a:solidFill>
                          <a:latin typeface="Arial"/>
                        </a:rPr>
                        <a:t>1 byte</a:t>
                      </a:r>
                    </a:p>
                  </a:txBody>
                  <a:tcPr marR="54864" marT="91440" marB="54864" anchor="ctr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62D"/>
                          </a:solidFill>
                          <a:latin typeface="Arial"/>
                        </a:rPr>
                        <a:t>1 byte</a:t>
                      </a:r>
                    </a:p>
                  </a:txBody>
                  <a:tcPr marR="54864" marT="91440" marB="54864" anchor="ctr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62D"/>
                          </a:solidFill>
                          <a:latin typeface="Arial"/>
                        </a:rPr>
                        <a:t>2 byte</a:t>
                      </a:r>
                    </a:p>
                  </a:txBody>
                  <a:tcPr marR="54864" marT="91440" marB="54864" anchor="ctr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62D"/>
                          </a:solidFill>
                          <a:latin typeface="Arial"/>
                        </a:rPr>
                        <a:t>256 byte</a:t>
                      </a:r>
                    </a:p>
                  </a:txBody>
                  <a:tcPr marR="54864" marT="91440" marB="54864" anchor="ctr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62D"/>
                          </a:solidFill>
                          <a:latin typeface="Arial"/>
                        </a:rPr>
                        <a:t>12 byte</a:t>
                      </a:r>
                    </a:p>
                  </a:txBody>
                  <a:tcPr marR="54864" marT="91440" marB="54864" anchor="ctr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62D"/>
                          </a:solidFill>
                          <a:latin typeface="Arial"/>
                        </a:rPr>
                        <a:t>2 byte</a:t>
                      </a:r>
                    </a:p>
                  </a:txBody>
                  <a:tcPr marR="54864" marT="91440" marB="54864" anchor="ctr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62D"/>
                          </a:solidFill>
                          <a:latin typeface="Arial"/>
                        </a:rPr>
                        <a:t>M byte</a:t>
                      </a:r>
                    </a:p>
                  </a:txBody>
                  <a:tcPr marR="54864" marT="91440" marB="54864" anchor="ctr">
                    <a:solidFill>
                      <a:srgbClr val="F3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23874" y="3219450"/>
            <a:ext cx="11220450" cy="38385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950" b="1">
                <a:solidFill>
                  <a:srgbClr val="AA4A17"/>
                </a:solidFill>
                <a:latin typeface="Arial"/>
              </a:rPr>
              <a:t>↓ Toàn bộ header làm AAD — Additional Authenticated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4" y="3629025"/>
            <a:ext cx="11220450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Dữ liệu bổ sung được xác thực; header không bị mã hóa.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874" y="4295775"/>
            <a:ext cx="531495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2. Mã hóa nội dung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4295775"/>
            <a:ext cx="5267325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3. Tạo tag xác thực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874" y="4733925"/>
            <a:ext cx="5314950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AES dùng K và bộ đếm từ IV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874" y="5031581"/>
            <a:ext cx="5314950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→ dòng khóa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874" y="5329237"/>
            <a:ext cx="5314950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Plaintext XOR S → ciphertext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4733925"/>
            <a:ext cx="5267325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GHASH(AAD, ciphertext, độ dài)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5031581"/>
            <a:ext cx="5267325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XOR AES_K(J₀)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5329237"/>
            <a:ext cx="5267325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→ tag 16 byte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3874" y="247649"/>
            <a:ext cx="11125200" cy="221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5" b="0">
                <a:solidFill>
                  <a:srgbClr val="59636F"/>
                </a:solidFill>
                <a:latin typeface="Arial"/>
              </a:rPr>
              <a:t>AN TOÀN BẢO MẬT THÔNG TIN • BÁO CÁO GIỮA KỲ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874" y="762000"/>
            <a:ext cx="11220450" cy="546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775" b="1">
                <a:solidFill>
                  <a:srgbClr val="20262D"/>
                </a:solidFill>
                <a:latin typeface="Arial"/>
              </a:rPr>
              <a:t>Tag giúp phát hiện sửa đổi ở đâu?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4" y="1362075"/>
            <a:ext cx="11144250" cy="11429"/>
          </a:xfrm>
          <a:prstGeom prst="rect">
            <a:avLst/>
          </a:prstGeom>
          <a:solidFill>
            <a:srgbClr val="AA4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3874" y="6486525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3874" y="6600825"/>
            <a:ext cx="9886950" cy="177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>
                <a:solidFill>
                  <a:srgbClr val="59636F"/>
                </a:solidFill>
                <a:latin typeface="Arial"/>
              </a:rPr>
              <a:t>Trần Phạm Thiên Ân | 1150080127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885825" cy="2066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>
                <a:solidFill>
                  <a:srgbClr val="59636F"/>
                </a:solidFill>
                <a:latin typeface="Arial"/>
              </a:rPr>
              <a:t>06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4" y="1819275"/>
            <a:ext cx="2505075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1. Metadata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0875" y="1819275"/>
            <a:ext cx="8553450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Tên tệp / flags thay đổi → AAD thay đổi.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3874" y="2371725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3874" y="2543175"/>
            <a:ext cx="2505075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2. Wrapped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0875" y="2543175"/>
            <a:ext cx="8553450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Có thể lỗi OAEP trước; nếu qua, vẫn cần kiểm tra GCM.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3874" y="3095625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874" y="3267075"/>
            <a:ext cx="2505075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3. IV / nonce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0875" y="3267075"/>
            <a:ext cx="8553450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Thay đổi đầu vào của GCM và AAD.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874" y="3819524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874" y="3990974"/>
            <a:ext cx="2505075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4. Ciphertext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0875" y="3990974"/>
            <a:ext cx="8553450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Thay đổi dữ liệu được tag xác thực.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3874" y="4543425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3874" y="4714875"/>
            <a:ext cx="2505075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5. Tag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90875" y="4714875"/>
            <a:ext cx="8553450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Không khớp với giá trị xác thực được tính lại.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874" y="5267325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3874" y="5800725"/>
            <a:ext cx="11220450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1">
                <a:solidFill>
                  <a:srgbClr val="AA4A17"/>
                </a:solidFill>
                <a:latin typeface="Arial"/>
              </a:rPr>
              <a:t>Chỉ xuất tệp khi đọc gói, giải bọc khóa và xác thực đều thành công.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3874" y="247649"/>
            <a:ext cx="11125200" cy="221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5" b="0">
                <a:solidFill>
                  <a:srgbClr val="59636F"/>
                </a:solidFill>
                <a:latin typeface="Arial"/>
              </a:rPr>
              <a:t>AN TOÀN BẢO MẬT THÔNG TIN • BÁO CÁO GIỮA KỲ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874" y="762000"/>
            <a:ext cx="11220450" cy="546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775" b="1">
                <a:solidFill>
                  <a:srgbClr val="20262D"/>
                </a:solidFill>
                <a:latin typeface="Arial"/>
              </a:rPr>
              <a:t>RSA-2048 và cặp khóa của người nhận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4" y="1362075"/>
            <a:ext cx="11144250" cy="11429"/>
          </a:xfrm>
          <a:prstGeom prst="rect">
            <a:avLst/>
          </a:prstGeom>
          <a:solidFill>
            <a:srgbClr val="AA4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3874" y="6486525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3874" y="6600825"/>
            <a:ext cx="9886950" cy="177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>
                <a:solidFill>
                  <a:srgbClr val="59636F"/>
                </a:solidFill>
                <a:latin typeface="Arial"/>
              </a:rPr>
              <a:t>Trần Phạm Thiên Ân | 1150080127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885825" cy="2066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>
                <a:solidFill>
                  <a:srgbClr val="59636F"/>
                </a:solidFill>
                <a:latin typeface="Arial"/>
              </a:rPr>
              <a:t>07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4" y="1924049"/>
            <a:ext cx="11220450" cy="7086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600" b="1">
                <a:solidFill>
                  <a:srgbClr val="AA4A17"/>
                </a:solidFill>
                <a:latin typeface="Arial"/>
              </a:rPr>
              <a:t>RSA-2048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4" y="2657475"/>
            <a:ext cx="11220450" cy="4576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325" b="0">
                <a:solidFill>
                  <a:srgbClr val="20262D"/>
                </a:solidFill>
                <a:latin typeface="Arial"/>
              </a:rPr>
              <a:t>2048 bit là độ dài modulus n = p × q.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4" y="3124200"/>
            <a:ext cx="1122045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59636F"/>
                </a:solidFill>
                <a:latin typeface="Arial"/>
              </a:rPr>
              <a:t>Tương đương 256 byte; không phải độ dài khóa AES.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874" y="3771900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874" y="4162424"/>
            <a:ext cx="541020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Khóa công khai (n, 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874" y="4600575"/>
            <a:ext cx="5314950" cy="4133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00" b="0">
                <a:solidFill>
                  <a:srgbClr val="20262D"/>
                </a:solidFill>
                <a:latin typeface="Arial"/>
              </a:rPr>
              <a:t>Alice dùng để bọc khóa AES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874" y="4933950"/>
            <a:ext cx="5314950" cy="4133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00" b="0">
                <a:solidFill>
                  <a:srgbClr val="20262D"/>
                </a:solidFill>
                <a:latin typeface="Arial"/>
              </a:rPr>
              <a:t>cho Bob.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4162424"/>
            <a:ext cx="5267325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Khóa riêng tư (n, 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4600575"/>
            <a:ext cx="5267325" cy="4133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00" b="0">
                <a:solidFill>
                  <a:srgbClr val="20262D"/>
                </a:solidFill>
                <a:latin typeface="Arial"/>
              </a:rPr>
              <a:t>Bob giữ bí mật và dùng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4933950"/>
            <a:ext cx="5267325" cy="4133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00" b="0">
                <a:solidFill>
                  <a:srgbClr val="20262D"/>
                </a:solidFill>
                <a:latin typeface="Arial"/>
              </a:rPr>
              <a:t>để giải bọc khóa AES.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3874" y="247649"/>
            <a:ext cx="11125200" cy="221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5" b="0">
                <a:solidFill>
                  <a:srgbClr val="59636F"/>
                </a:solidFill>
                <a:latin typeface="Arial"/>
              </a:rPr>
              <a:t>AN TOÀN BẢO MẬT THÔNG TIN • BÁO CÁO GIỮA KỲ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874" y="762000"/>
            <a:ext cx="11220450" cy="546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775" b="1">
                <a:solidFill>
                  <a:srgbClr val="20262D"/>
                </a:solidFill>
                <a:latin typeface="Arial"/>
              </a:rPr>
              <a:t>RSA-OAEP: bọc khóa AES 32 byte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4" y="1362075"/>
            <a:ext cx="11144250" cy="11429"/>
          </a:xfrm>
          <a:prstGeom prst="rect">
            <a:avLst/>
          </a:prstGeom>
          <a:solidFill>
            <a:srgbClr val="AA4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3874" y="6486525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3874" y="6600825"/>
            <a:ext cx="9886950" cy="177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>
                <a:solidFill>
                  <a:srgbClr val="59636F"/>
                </a:solidFill>
                <a:latin typeface="Arial"/>
              </a:rPr>
              <a:t>Trần Phạm Thiên Ân | 1150080127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885825" cy="2066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>
                <a:solidFill>
                  <a:srgbClr val="59636F"/>
                </a:solidFill>
                <a:latin typeface="Arial"/>
              </a:rPr>
              <a:t>08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4" y="1657350"/>
            <a:ext cx="11220450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1">
                <a:solidFill>
                  <a:srgbClr val="AA4A17"/>
                </a:solidFill>
                <a:latin typeface="Arial"/>
              </a:rPr>
              <a:t>Khóa AES → OAEP + seed ngẫu nhiên → RSA bằng public key Bob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4" y="2219325"/>
            <a:ext cx="1055370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DB trước khi che: 223 byte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3874" y="2628900"/>
          <a:ext cx="11144250" cy="990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299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lHash</a:t>
                      </a:r>
                    </a:p>
                  </a:txBody>
                  <a:tcPr marR="54864" marT="91440" marB="54864" anchor="ctr">
                    <a:solidFill>
                      <a:srgbClr val="2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Đệm PS</a:t>
                      </a:r>
                    </a:p>
                  </a:txBody>
                  <a:tcPr marR="54864" marT="91440" marB="54864" anchor="ctr">
                    <a:solidFill>
                      <a:srgbClr val="2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Phân cách</a:t>
                      </a:r>
                    </a:p>
                  </a:txBody>
                  <a:tcPr marR="54864" marT="91440" marB="54864" anchor="ctr">
                    <a:solidFill>
                      <a:srgbClr val="2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Khóa AES</a:t>
                      </a:r>
                    </a:p>
                  </a:txBody>
                  <a:tcPr marR="54864" marT="91440" marB="54864" anchor="ctr">
                    <a:solidFill>
                      <a:srgbClr val="20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0262D"/>
                          </a:solidFill>
                          <a:latin typeface="Arial"/>
                        </a:rPr>
                        <a:t>SHA-256(label rỗng)
32 byte</a:t>
                      </a:r>
                    </a:p>
                  </a:txBody>
                  <a:tcPr marR="54864" marT="91440" marB="54864" anchor="ctr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0262D"/>
                          </a:solidFill>
                          <a:latin typeface="Arial"/>
                        </a:rPr>
                        <a:t>158 byte 00</a:t>
                      </a:r>
                    </a:p>
                  </a:txBody>
                  <a:tcPr marR="54864" marT="91440" marB="54864" anchor="ctr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0262D"/>
                          </a:solidFill>
                          <a:latin typeface="Arial"/>
                        </a:rPr>
                        <a:t>01
1 byte</a:t>
                      </a:r>
                    </a:p>
                  </a:txBody>
                  <a:tcPr marR="54864" marT="91440" marB="54864" anchor="ctr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0262D"/>
                          </a:solidFill>
                          <a:latin typeface="Arial"/>
                        </a:rPr>
                        <a:t>32 byte</a:t>
                      </a:r>
                    </a:p>
                  </a:txBody>
                  <a:tcPr marR="54864" marT="91440" marB="54864" anchor="ctr">
                    <a:solidFill>
                      <a:srgbClr val="F3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23874" y="3914775"/>
            <a:ext cx="11220450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MGF1 và XOR che DB bằng seed, rồi che seed bằng DB đã che.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23874" y="4410075"/>
          <a:ext cx="11144250" cy="952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Byte đầu</a:t>
                      </a:r>
                    </a:p>
                  </a:txBody>
                  <a:tcPr marR="54864" marT="91440" marB="54864" anchor="ctr">
                    <a:solidFill>
                      <a:srgbClr val="2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Seed đã che</a:t>
                      </a:r>
                    </a:p>
                  </a:txBody>
                  <a:tcPr marR="54864" marT="91440" marB="54864" anchor="ctr">
                    <a:solidFill>
                      <a:srgbClr val="2026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DB đã che</a:t>
                      </a:r>
                    </a:p>
                  </a:txBody>
                  <a:tcPr marR="54864" marT="91440" marB="54864" anchor="ctr">
                    <a:solidFill>
                      <a:srgbClr val="20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0262D"/>
                          </a:solidFill>
                          <a:latin typeface="Arial"/>
                        </a:rPr>
                        <a:t>00 • 1 byte</a:t>
                      </a:r>
                    </a:p>
                  </a:txBody>
                  <a:tcPr marR="54864" marT="91440" marB="54864" anchor="ctr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0262D"/>
                          </a:solidFill>
                          <a:latin typeface="Arial"/>
                        </a:rPr>
                        <a:t>32 byte</a:t>
                      </a:r>
                    </a:p>
                  </a:txBody>
                  <a:tcPr marR="54864" marT="91440" marB="54864" anchor="ctr"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0262D"/>
                          </a:solidFill>
                          <a:latin typeface="Arial"/>
                        </a:rPr>
                        <a:t>223 byte</a:t>
                      </a:r>
                    </a:p>
                  </a:txBody>
                  <a:tcPr marR="54864" marT="91440" marB="54864" anchor="ctr">
                    <a:solidFill>
                      <a:srgbClr val="F3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23874" y="5743575"/>
            <a:ext cx="11220450" cy="4281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75" b="1">
                <a:solidFill>
                  <a:srgbClr val="AA4A17"/>
                </a:solidFill>
                <a:latin typeface="Arial"/>
              </a:rPr>
              <a:t>Khối OAEP 256 byte → RSA → wrapped key 256 byte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3874" y="247649"/>
            <a:ext cx="11125200" cy="221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5" b="0">
                <a:solidFill>
                  <a:srgbClr val="59636F"/>
                </a:solidFill>
                <a:latin typeface="Arial"/>
              </a:rPr>
              <a:t>AN TOÀN BẢO MẬT THÔNG TIN • BÁO CÁO GIỮA KỲ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874" y="762000"/>
            <a:ext cx="11220450" cy="546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775" b="1">
                <a:solidFill>
                  <a:srgbClr val="20262D"/>
                </a:solidFill>
                <a:latin typeface="Arial"/>
              </a:rPr>
              <a:t>Bob kiểm tra cấu trúc OAEP như thế nào?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4" y="1362075"/>
            <a:ext cx="11144250" cy="11429"/>
          </a:xfrm>
          <a:prstGeom prst="rect">
            <a:avLst/>
          </a:prstGeom>
          <a:solidFill>
            <a:srgbClr val="AA4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3874" y="6486525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3874" y="6600825"/>
            <a:ext cx="9886950" cy="177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>
                <a:solidFill>
                  <a:srgbClr val="59636F"/>
                </a:solidFill>
                <a:latin typeface="Arial"/>
              </a:rPr>
              <a:t>Trần Phạm Thiên Ân | 1150080127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885825" cy="2066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>
                <a:solidFill>
                  <a:srgbClr val="59636F"/>
                </a:solidFill>
                <a:latin typeface="Arial"/>
              </a:rPr>
              <a:t>09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4" y="1905000"/>
            <a:ext cx="933449" cy="7086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600" b="1">
                <a:solidFill>
                  <a:srgbClr val="AA4A17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1905000"/>
            <a:ext cx="1007745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Giải RSA và bỏ mặt nạ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2352675"/>
            <a:ext cx="1007745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Dùng private key Bob để phục hồi khối OAEP và DB.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4" y="3181350"/>
            <a:ext cx="933449" cy="7086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600" b="1">
                <a:solidFill>
                  <a:srgbClr val="AA4A17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3181350"/>
            <a:ext cx="1007745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Kiểm tra OAEP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3629025"/>
            <a:ext cx="1007745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Đối chiếu lHash của label; kiểm tra byte 00, vùng đệm và dấu 01.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874" y="4457700"/>
            <a:ext cx="933449" cy="7086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600" b="1">
                <a:solidFill>
                  <a:srgbClr val="AA4A17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" y="4457700"/>
            <a:ext cx="1007745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Xác thực tiếp bằng GCM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" y="4905375"/>
            <a:ext cx="1007745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Lấy khóa AES rồi kiểm tra tag của header và ciphertext.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874" y="5915025"/>
            <a:ext cx="11220450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1">
                <a:solidFill>
                  <a:srgbClr val="20262D"/>
                </a:solidFill>
                <a:latin typeface="Arial"/>
              </a:rPr>
              <a:t>lHash là hash của label, không phải checksum của khóa AES.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3874" y="247649"/>
            <a:ext cx="11125200" cy="221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5" b="0">
                <a:solidFill>
                  <a:srgbClr val="59636F"/>
                </a:solidFill>
                <a:latin typeface="Arial"/>
              </a:rPr>
              <a:t>AN TOÀN BẢO MẬT THÔNG TIN • BÁO CÁO GIỮA KỲ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874" y="762000"/>
            <a:ext cx="11220450" cy="546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775" b="1">
                <a:solidFill>
                  <a:srgbClr val="20262D"/>
                </a:solidFill>
                <a:latin typeface="Arial"/>
              </a:rPr>
              <a:t>Vì sao dùng mã hóa lai?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4" y="1362075"/>
            <a:ext cx="11144250" cy="11429"/>
          </a:xfrm>
          <a:prstGeom prst="rect">
            <a:avLst/>
          </a:prstGeom>
          <a:solidFill>
            <a:srgbClr val="AA4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3874" y="6486525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3874" y="6600825"/>
            <a:ext cx="9886950" cy="177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>
                <a:solidFill>
                  <a:srgbClr val="59636F"/>
                </a:solidFill>
                <a:latin typeface="Arial"/>
              </a:rPr>
              <a:t>Trần Phạm Thiên Ân | 1150080127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885825" cy="2066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>
                <a:solidFill>
                  <a:srgbClr val="59636F"/>
                </a:solidFill>
                <a:latin typeface="Arial"/>
              </a:rPr>
              <a:t>10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4" y="2076450"/>
            <a:ext cx="1122045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AES-GCM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4" y="2543175"/>
            <a:ext cx="11220450" cy="4724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0">
                <a:solidFill>
                  <a:srgbClr val="20262D"/>
                </a:solidFill>
                <a:latin typeface="Arial"/>
              </a:rPr>
              <a:t>Xử lý nội dung tệp và xác thực toàn vẹn.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3874" y="3200400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3874" y="3562350"/>
            <a:ext cx="1122045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RSA-OAEP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874" y="4029075"/>
            <a:ext cx="11220450" cy="4724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0">
                <a:solidFill>
                  <a:srgbClr val="20262D"/>
                </a:solidFill>
                <a:latin typeface="Arial"/>
              </a:rPr>
              <a:t>Chuyển khóa AES cho người nhận bằng khóa công khai.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3874" y="4686300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874" y="5210175"/>
            <a:ext cx="11220450" cy="4724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>
                <a:solidFill>
                  <a:srgbClr val="AA4A17"/>
                </a:solidFill>
                <a:latin typeface="Arial"/>
              </a:rPr>
              <a:t>Kết hợp: mã hóa dữ liệu bằng AES, bọc khóa bằng RSA.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874" y="5772150"/>
            <a:ext cx="11220450" cy="38385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950" b="0">
                <a:solidFill>
                  <a:srgbClr val="59636F"/>
                </a:solidFill>
                <a:latin typeface="Arial"/>
              </a:rPr>
              <a:t>Không dùng RSA để mã hóa toàn bộ tệp.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3874" y="247649"/>
            <a:ext cx="11125200" cy="221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5" b="0">
                <a:solidFill>
                  <a:srgbClr val="59636F"/>
                </a:solidFill>
                <a:latin typeface="Arial"/>
              </a:rPr>
              <a:t>AN TOÀN BẢO MẬT THÔNG TIN • BÁO CÁO GIỮA KỲ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874" y="762000"/>
            <a:ext cx="11220450" cy="546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775" b="1">
                <a:solidFill>
                  <a:srgbClr val="20262D"/>
                </a:solidFill>
                <a:latin typeface="Arial"/>
              </a:rPr>
              <a:t>Giải bọc khóa và khôi phục tệp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4" y="1362075"/>
            <a:ext cx="11144250" cy="11429"/>
          </a:xfrm>
          <a:prstGeom prst="rect">
            <a:avLst/>
          </a:prstGeom>
          <a:solidFill>
            <a:srgbClr val="AA4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3874" y="6486525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3874" y="6600825"/>
            <a:ext cx="9886950" cy="177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>
                <a:solidFill>
                  <a:srgbClr val="59636F"/>
                </a:solidFill>
                <a:latin typeface="Arial"/>
              </a:rPr>
              <a:t>Trần Phạm Thiên Ân | 1150080127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885825" cy="2066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>
                <a:solidFill>
                  <a:srgbClr val="59636F"/>
                </a:solidFill>
                <a:latin typeface="Arial"/>
              </a:rPr>
              <a:t>11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4" y="1781175"/>
            <a:ext cx="1055370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Hai chiều của RSA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4" y="2228850"/>
            <a:ext cx="6457950" cy="4724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>
                <a:solidFill>
                  <a:srgbClr val="20262D"/>
                </a:solidFill>
                <a:latin typeface="Arial"/>
              </a:rPr>
              <a:t>Mã hóa: c = mᵉ mod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4" y="2609850"/>
            <a:ext cx="6457950" cy="4724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>
                <a:solidFill>
                  <a:srgbClr val="20262D"/>
                </a:solidFill>
                <a:latin typeface="Arial"/>
              </a:rPr>
              <a:t>Giải mã: m = cᵈ mod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0" y="1781175"/>
            <a:ext cx="4124325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Khóa liên quan với nhau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0" y="2228850"/>
            <a:ext cx="4124325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n = p × 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2526506"/>
            <a:ext cx="4124325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e × d ≡ 1 (mod λ(n))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0" y="2824162"/>
            <a:ext cx="4124325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λ(n) = lcm(p−1, q−1)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874" y="3457575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3874" y="3838575"/>
            <a:ext cx="1055370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Khôi phục khóa AES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874" y="4276725"/>
            <a:ext cx="11220450" cy="4576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325" b="0">
                <a:solidFill>
                  <a:srgbClr val="20262D"/>
                </a:solidFill>
                <a:latin typeface="Arial"/>
              </a:rPr>
              <a:t>K = OAEP.Decode(I2OSP(m, 256))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874" y="4962525"/>
            <a:ext cx="1055370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Giải mã và xác thực tệp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4" y="5400675"/>
            <a:ext cx="11220450" cy="4576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325" b="0">
                <a:solidFill>
                  <a:srgbClr val="20262D"/>
                </a:solidFill>
                <a:latin typeface="Arial"/>
              </a:rPr>
              <a:t>P = GCM.Decrypt(K, IV, C, AAD, 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874" y="5981700"/>
            <a:ext cx="11220450" cy="3248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50" b="0">
                <a:solidFill>
                  <a:srgbClr val="59636F"/>
                </a:solidFill>
                <a:latin typeface="Arial"/>
              </a:rPr>
              <a:t>OAEP hoặc tag không hợp lệ → từ chối xuất tệp.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3874" y="247649"/>
            <a:ext cx="11125200" cy="221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5" b="0">
                <a:solidFill>
                  <a:srgbClr val="59636F"/>
                </a:solidFill>
                <a:latin typeface="Arial"/>
              </a:rPr>
              <a:t>AN TOÀN BẢO MẬT THÔNG TIN • BÁO CÁO GIỮA KỲ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874" y="762000"/>
            <a:ext cx="11220450" cy="546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775" b="1">
                <a:solidFill>
                  <a:srgbClr val="20262D"/>
                </a:solidFill>
                <a:latin typeface="Arial"/>
              </a:rPr>
              <a:t>Ví dụ RSA với p = 5, q =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4" y="1362075"/>
            <a:ext cx="11144250" cy="11429"/>
          </a:xfrm>
          <a:prstGeom prst="rect">
            <a:avLst/>
          </a:prstGeom>
          <a:solidFill>
            <a:srgbClr val="AA4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3874" y="1562100"/>
            <a:ext cx="11220450" cy="3248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50" b="0">
                <a:solidFill>
                  <a:srgbClr val="59636F"/>
                </a:solidFill>
                <a:latin typeface="Arial"/>
              </a:rPr>
              <a:t>Ví dụ số nhỏ để hiểu phép toán; không đủ an toàn và không dùng OAEP.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23874" y="6486525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3874" y="6600825"/>
            <a:ext cx="9886950" cy="177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>
                <a:solidFill>
                  <a:srgbClr val="59636F"/>
                </a:solidFill>
                <a:latin typeface="Arial"/>
              </a:rPr>
              <a:t>Trần Phạm Thiên Ân | 1150080127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0" y="6572250"/>
            <a:ext cx="885825" cy="2066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>
                <a:solidFill>
                  <a:srgbClr val="59636F"/>
                </a:solidFill>
                <a:latin typeface="Arial"/>
              </a:rPr>
              <a:t>12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43375" y="2190750"/>
            <a:ext cx="11429" cy="3143250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53374" y="2190750"/>
            <a:ext cx="11429" cy="3143250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3874" y="2219325"/>
            <a:ext cx="331470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1. Tạo khóa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874" y="2724150"/>
            <a:ext cx="3457575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n = 5 × 11 = 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874" y="3021806"/>
            <a:ext cx="3457575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λ(n) = lcm(4, 10) =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874" y="3319462"/>
            <a:ext cx="3457575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e = 3; d =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874" y="3617118"/>
            <a:ext cx="3457575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3 × 7 mod 20 =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874" y="4448175"/>
            <a:ext cx="3457575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1">
                <a:solidFill>
                  <a:srgbClr val="20262D"/>
                </a:solidFill>
                <a:latin typeface="Arial"/>
              </a:rPr>
              <a:t>Public: (55, 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874" y="4745831"/>
            <a:ext cx="3457575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1">
                <a:solidFill>
                  <a:srgbClr val="20262D"/>
                </a:solidFill>
                <a:latin typeface="Arial"/>
              </a:rPr>
              <a:t>Private: (55, 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6750" y="2219325"/>
            <a:ext cx="3267075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2. Alice mã hóa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6750" y="2724150"/>
            <a:ext cx="3267075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Chọn m =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45618"/>
            <a:ext cx="3267075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76750" y="3367087"/>
            <a:ext cx="3267075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c = 7^3 mod 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6750" y="3688556"/>
            <a:ext cx="3267075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= 343 mod 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6750" y="4010025"/>
            <a:ext cx="3267075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= 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0" y="2219325"/>
            <a:ext cx="3457575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3. Bob giải mã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750" y="2724150"/>
            <a:ext cx="3457575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m = 13^7 mod 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750" y="3021806"/>
            <a:ext cx="3457575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13^2 mod 55 =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750" y="3319462"/>
            <a:ext cx="3457575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13^4 mod 55 = 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750" y="3617118"/>
            <a:ext cx="3457575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(16 × 4 × 13) mod 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6750" y="3914775"/>
            <a:ext cx="3457575" cy="3690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75" b="0">
                <a:solidFill>
                  <a:srgbClr val="20262D"/>
                </a:solidFill>
                <a:latin typeface="Arial"/>
              </a:rPr>
              <a:t>= 832 mod 55 =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874" y="5810250"/>
            <a:ext cx="11220450" cy="442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250" b="1">
                <a:solidFill>
                  <a:srgbClr val="AA4A17"/>
                </a:solidFill>
                <a:latin typeface="Arial"/>
              </a:rPr>
              <a:t>Kết quả: Bob lấy lại đúng m = 7 ban đầu.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3874" y="247649"/>
            <a:ext cx="11125200" cy="221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5" b="0">
                <a:solidFill>
                  <a:srgbClr val="59636F"/>
                </a:solidFill>
                <a:latin typeface="Arial"/>
              </a:rPr>
              <a:t>AN TOÀN BẢO MẬT THÔNG TIN • BÁO CÁO GIỮA KỲ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874" y="762000"/>
            <a:ext cx="11220450" cy="546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775" b="1">
                <a:solidFill>
                  <a:srgbClr val="20262D"/>
                </a:solidFill>
                <a:latin typeface="Arial"/>
              </a:rPr>
              <a:t>Bằng chứng kiểm thử với công cụ NIST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4" y="1362075"/>
            <a:ext cx="11144250" cy="11429"/>
          </a:xfrm>
          <a:prstGeom prst="rect">
            <a:avLst/>
          </a:prstGeom>
          <a:solidFill>
            <a:srgbClr val="AA4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3874" y="6486525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3874" y="6600825"/>
            <a:ext cx="9886950" cy="177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>
                <a:solidFill>
                  <a:srgbClr val="59636F"/>
                </a:solidFill>
                <a:latin typeface="Arial"/>
              </a:rPr>
              <a:t>Trần Phạm Thiên Ân | 1150080127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885825" cy="2066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>
                <a:solidFill>
                  <a:srgbClr val="59636F"/>
                </a:solidFill>
                <a:latin typeface="Arial"/>
              </a:rPr>
              <a:t>13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4" y="1819275"/>
            <a:ext cx="1055370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Nguồn tham chiếu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4" y="2238375"/>
            <a:ext cx="11220450" cy="4133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00" b="0">
                <a:solidFill>
                  <a:srgbClr val="20262D"/>
                </a:solidFill>
                <a:latin typeface="Arial"/>
              </a:rPr>
              <a:t>ACVP-Server → NIST GenVal sinh vector cục bộ.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4" y="2571750"/>
            <a:ext cx="11220450" cy="4133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00" b="0">
                <a:solidFill>
                  <a:srgbClr val="20262D"/>
                </a:solidFill>
                <a:latin typeface="Arial"/>
              </a:rPr>
              <a:t>Lưu phiên bản, cấu hình, lệnh sinh và checksum.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874" y="3105150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874" y="3448050"/>
            <a:ext cx="1055370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Thực thi độc lập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874" y="3867150"/>
            <a:ext cx="11220450" cy="4133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00" b="0">
                <a:solidFill>
                  <a:srgbClr val="20262D"/>
                </a:solidFill>
                <a:latin typeface="Arial"/>
              </a:rPr>
              <a:t>Đầu vào vector → hàm mật mã dùng trong sản phẩm → actual.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874" y="4200525"/>
            <a:ext cx="11220450" cy="4133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100" b="0">
                <a:solidFill>
                  <a:srgbClr val="20262D"/>
                </a:solidFill>
                <a:latin typeface="Arial"/>
              </a:rPr>
              <a:t>Đối chiếu với đáp án tham chiếu expected.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874" y="4724400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3874" y="5067300"/>
            <a:ext cx="11220450" cy="531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700" b="1">
                <a:solidFill>
                  <a:srgbClr val="AA4A17"/>
                </a:solidFill>
                <a:latin typeface="Arial"/>
              </a:rPr>
              <a:t>expected = actual →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874" y="5724525"/>
            <a:ext cx="11220450" cy="3543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0">
                <a:solidFill>
                  <a:srgbClr val="59636F"/>
                </a:solidFill>
                <a:latin typeface="Arial"/>
              </a:rPr>
              <a:t>Không khớp → FAIL. Đây không phải chứng nhận chính thức của NIST.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0" b="1">
                <a:solidFill>
                  <a:srgbClr val="20262D"/>
                </a:solidFill>
                <a:latin typeface="Arial"/>
                <a:hlinkClick r:id="rId3"/>
              </a:rPr>
              <a:t>DEMO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3874" y="247649"/>
            <a:ext cx="11125200" cy="221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25" b="0">
                <a:solidFill>
                  <a:srgbClr val="59636F"/>
                </a:solidFill>
                <a:latin typeface="Arial"/>
              </a:rPr>
              <a:t>AN TOÀN BẢO MẬT THÔNG TIN • BÁO CÁO GIỮA KỲ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874" y="762000"/>
            <a:ext cx="11220450" cy="5462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775" b="1">
                <a:solidFill>
                  <a:srgbClr val="20262D"/>
                </a:solidFill>
                <a:latin typeface="Arial"/>
              </a:rPr>
              <a:t>Kết luận và phạm vi giữa kỳ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4" y="1362075"/>
            <a:ext cx="11144250" cy="11429"/>
          </a:xfrm>
          <a:prstGeom prst="rect">
            <a:avLst/>
          </a:prstGeom>
          <a:solidFill>
            <a:srgbClr val="AA4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3874" y="6486525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3874" y="6600825"/>
            <a:ext cx="9886950" cy="177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>
                <a:solidFill>
                  <a:srgbClr val="59636F"/>
                </a:solidFill>
                <a:latin typeface="Arial"/>
              </a:rPr>
              <a:t>Trần Phạm Thiên Ân | 1150080127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885825" cy="2066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b="0">
                <a:solidFill>
                  <a:srgbClr val="59636F"/>
                </a:solidFill>
                <a:latin typeface="Arial"/>
              </a:rPr>
              <a:t>15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4" y="1943100"/>
            <a:ext cx="1055370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Đã thực hiện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4" y="2390775"/>
            <a:ext cx="26670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AA4A17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390775"/>
            <a:ext cx="1026795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Mã hóa tệp bằng AES-256-GCM.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4" y="2933700"/>
            <a:ext cx="26670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AA4A17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933700"/>
            <a:ext cx="1026795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Bọc khóa bằng RSA-2048 OAEP.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874" y="3476625"/>
            <a:ext cx="26670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AA4A17"/>
                </a:solidFill>
                <a:latin typeface="Aria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476625"/>
            <a:ext cx="1026795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Demo và đối chiếu bằng công cụ tham chiếu NIST.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874" y="4190999"/>
            <a:ext cx="111442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3874" y="4552950"/>
            <a:ext cx="10553700" cy="3395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25" b="1">
                <a:solidFill>
                  <a:srgbClr val="AA4A17"/>
                </a:solidFill>
                <a:latin typeface="Arial"/>
              </a:rPr>
              <a:t>Giới hạn và hướng tiếp tục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874" y="5010150"/>
            <a:ext cx="1122045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Khóa và plaintext được xử lý tại server demo.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874" y="5331618"/>
            <a:ext cx="1122045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Chưa là E2EE chống server; tiếp tục phân tích hiệu năng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4" y="5653087"/>
            <a:ext cx="11220450" cy="3986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25" b="0">
                <a:solidFill>
                  <a:srgbClr val="20262D"/>
                </a:solidFill>
                <a:latin typeface="Arial"/>
              </a:rPr>
              <a:t>và quản lý khóa khi triển khai.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9625" y="2428875"/>
            <a:ext cx="10648950" cy="6348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225" b="1">
                <a:solidFill>
                  <a:srgbClr val="20262D"/>
                </a:solidFill>
                <a:latin typeface="Arial"/>
              </a:rPr>
              <a:t>EM CẢM ƠN THẦY VÀ CÁC BẠN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9625" y="3152775"/>
            <a:ext cx="10648950" cy="6348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225" b="1">
                <a:solidFill>
                  <a:srgbClr val="AA4A17"/>
                </a:solidFill>
                <a:latin typeface="Arial"/>
              </a:rPr>
              <a:t>ĐÃ LẮNG NGHE</a:t>
            </a:r>
          </a:p>
        </p:txBody>
      </p:sp>
      <p:sp>
        <p:nvSpPr>
          <p:cNvPr id="4" name="Rectangle 3"/>
          <p:cNvSpPr/>
          <p:nvPr/>
        </p:nvSpPr>
        <p:spPr>
          <a:xfrm>
            <a:off x="809625" y="4105274"/>
            <a:ext cx="10191750" cy="11429"/>
          </a:xfrm>
          <a:prstGeom prst="rect">
            <a:avLst/>
          </a:prstGeom>
          <a:solidFill>
            <a:srgbClr val="D8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9625" y="4448175"/>
            <a:ext cx="10648950" cy="38385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950" b="0">
                <a:solidFill>
                  <a:srgbClr val="59636F"/>
                </a:solidFill>
                <a:latin typeface="Arial"/>
              </a:rPr>
              <a:t>Trần Phạm Thiên Ân • 1150080127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2002</Words>
  <Application>Microsoft Macintosh PowerPoint</Application>
  <PresentationFormat>Widescreen</PresentationFormat>
  <Paragraphs>245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Mã hóa lai AES-GCM kết hợp RSA-OAEP cho trao đổi tệp</dc:title>
  <dc:subject/>
  <dc:creator>Trần Phạm Thiên Ân</dc:creator>
  <cp:keywords/>
  <dc:description>generated using python-pptx</dc:description>
  <cp:lastModifiedBy>Trần Phạm Thiên Ân</cp:lastModifiedBy>
  <cp:revision>2</cp:revision>
  <dcterms:created xsi:type="dcterms:W3CDTF">2013-01-27T09:14:16Z</dcterms:created>
  <dcterms:modified xsi:type="dcterms:W3CDTF">2026-10-27T07:59:27Z</dcterms:modified>
  <cp:category/>
</cp:coreProperties>
</file>