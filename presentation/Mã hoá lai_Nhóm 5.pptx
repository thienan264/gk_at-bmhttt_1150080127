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3010" r:id="rId2"/>
    <p:sldId id="2001" r:id="rId3"/>
    <p:sldId id="2002" r:id="rId4"/>
    <p:sldId id="2003" r:id="rId5"/>
    <p:sldId id="2004" r:id="rId6"/>
    <p:sldId id="2005" r:id="rId7"/>
    <p:sldId id="2006" r:id="rId8"/>
    <p:sldId id="2007" r:id="rId9"/>
    <p:sldId id="2009" r:id="rId10"/>
    <p:sldId id="301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5"/>
  </p:normalViewPr>
  <p:slideViewPr>
    <p:cSldViewPr snapToGrid="0" snapToObjects="1">
      <p:cViewPr varScale="1">
        <p:scale>
          <a:sx n="119" d="100"/>
          <a:sy n="119" d="100"/>
        </p:scale>
        <p:origin x="85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5581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a:ea typeface="Times New Roman"/>
        <a:cs typeface="Times New Roman"/>
      </a:defRPr>
    </a:lvl1pPr>
    <a:lvl2pPr marL="457200" algn="l" defTabSz="914400" rtl="0" eaLnBrk="1" latinLnBrk="0" hangingPunct="1">
      <a:defRPr sz="1200" kern="1200">
        <a:solidFill>
          <a:schemeClr val="tx1"/>
        </a:solidFill>
        <a:latin typeface="Times New Roman"/>
        <a:ea typeface="Times New Roman"/>
        <a:cs typeface="Times New Roman"/>
      </a:defRPr>
    </a:lvl2pPr>
    <a:lvl3pPr marL="914400" algn="l" defTabSz="914400" rtl="0" eaLnBrk="1" latinLnBrk="0" hangingPunct="1">
      <a:defRPr sz="1200" kern="1200">
        <a:solidFill>
          <a:schemeClr val="tx1"/>
        </a:solidFill>
        <a:latin typeface="Times New Roman"/>
        <a:ea typeface="Times New Roman"/>
        <a:cs typeface="Times New Roman"/>
      </a:defRPr>
    </a:lvl3pPr>
    <a:lvl4pPr marL="1371600" algn="l" defTabSz="914400" rtl="0" eaLnBrk="1" latinLnBrk="0" hangingPunct="1">
      <a:defRPr sz="1200" kern="1200">
        <a:solidFill>
          <a:schemeClr val="tx1"/>
        </a:solidFill>
        <a:latin typeface="Times New Roman"/>
        <a:ea typeface="Times New Roman"/>
        <a:cs typeface="Times New Roman"/>
      </a:defRPr>
    </a:lvl4pPr>
    <a:lvl5pPr marL="1828800" algn="l" defTabSz="914400" rtl="0" eaLnBrk="1" latinLnBrk="0" hangingPunct="1">
      <a:defRPr sz="1200" kern="1200">
        <a:solidFill>
          <a:schemeClr val="tx1"/>
        </a:solidFill>
        <a:latin typeface="Times New Roman"/>
        <a:ea typeface="Times New Roman"/>
        <a:cs typeface="Times New Roman"/>
      </a:defRPr>
    </a:lvl5pPr>
    <a:lvl6pPr marL="2286000" algn="l" defTabSz="914400" rtl="0" eaLnBrk="1" latinLnBrk="0" hangingPunct="1">
      <a:defRPr sz="1200" kern="1200">
        <a:solidFill>
          <a:schemeClr val="tx1"/>
        </a:solidFill>
        <a:latin typeface="Times New Roman"/>
        <a:ea typeface="Times New Roman"/>
        <a:cs typeface="Times New Roman"/>
      </a:defRPr>
    </a:lvl6pPr>
    <a:lvl7pPr marL="2743200" algn="l" defTabSz="914400" rtl="0" eaLnBrk="1" latinLnBrk="0" hangingPunct="1">
      <a:defRPr sz="1200" kern="1200">
        <a:solidFill>
          <a:schemeClr val="tx1"/>
        </a:solidFill>
        <a:latin typeface="Times New Roman"/>
        <a:ea typeface="Times New Roman"/>
        <a:cs typeface="Times New Roman"/>
      </a:defRPr>
    </a:lvl7pPr>
    <a:lvl8pPr marL="3200400" algn="l" defTabSz="914400" rtl="0" eaLnBrk="1" latinLnBrk="0" hangingPunct="1">
      <a:defRPr sz="1200" kern="1200">
        <a:solidFill>
          <a:schemeClr val="tx1"/>
        </a:solidFill>
        <a:latin typeface="Times New Roman"/>
        <a:ea typeface="Times New Roman"/>
        <a:cs typeface="Times New Roman"/>
      </a:defRPr>
    </a:lvl8pPr>
    <a:lvl9pPr marL="3657600" algn="l" defTabSz="914400" rtl="0" eaLnBrk="1" latinLnBrk="0" hangingPunct="1">
      <a:defRPr sz="1200" kern="1200">
        <a:solidFill>
          <a:schemeClr val="tx1"/>
        </a:solidFill>
        <a:latin typeface="Times New Roman"/>
        <a:ea typeface="Times New Roman"/>
        <a:cs typeface="Times New Roman"/>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vi-VN" sz="1800">
                <a:latin typeface="Times New Roman"/>
                <a:ea typeface="Times New Roman"/>
                <a:cs typeface="Times New Roman"/>
              </a:rPr>
              <a:t>00:00–00:05. Em chào thầy. Nhóm 5 xin trình bày đề tài mã hoá lai cho trao đổi tệp.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vi-VN" sz="1800">
                <a:latin typeface="Times New Roman"/>
                <a:ea typeface="Times New Roman"/>
                <a:cs typeface="Times New Roman"/>
              </a:rPr>
              <a:t>00:05–00:30. Trước hết, nhóm dùng AES-256-GCM để bảo vệ nội dung. Mỗi lần mã hoá, ứng dụng sinh một khoá AES 32 byte và IV 12 byte mới bằng bộ sinh ngẫu nhiên an toàn. Từ tệp gốc, AES-GCM tạo ra bản mã và tag xác thực. Người nhận cần khoá phù hợp để khôi phục nội dung.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vi-VN" sz="1800">
                <a:latin typeface="Times New Roman"/>
                <a:ea typeface="Times New Roman"/>
                <a:cs typeface="Times New Roman"/>
              </a:rPr>
              <a:t>00:30–01:00. Ngoài giữ bí mật, GCM còn giúp phát hiện dữ liệu bị sửa. Nếu kiểm tra tag thất bại, ứng dụng không trả bản rõ. Phần header được dùng làm AAD: tên tệp vẫn nhìn thấy, nhưng thay đổi sẽ bị phát hiện. Vậy chuyển khoá AES cho người nhận thế nào? Em xin chuyển phần này cho bạn Đạt.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vi-VN" sz="1800">
                <a:latin typeface="Times New Roman"/>
                <a:ea typeface="Times New Roman"/>
                <a:cs typeface="Times New Roman"/>
              </a:rPr>
              <a:t>01:00–01:30. Để giải quyết việc đó, nhóm dùng RSA-OAEP bọc khoá AES, thay vì mã hoá cả tệp bằng RSA. Alice dùng public key của Bob để bọc khoá AES 32 byte thành khối 256 byte. Chỉ private key tương ứng mới mở được khoá này. OAEP bổ sung cấu trúc có ngẫu nhiên; bài dùng SHA-256 và MGF1-SHA-256.</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vi-VN" sz="1800">
                <a:latin typeface="Times New Roman"/>
                <a:ea typeface="Times New Roman"/>
                <a:cs typeface="Times New Roman"/>
              </a:rPr>
              <a:t>01:30–02:00. Khoá AES đã bọc được đóng gói cùng IV, metadata và bản mã kèm tag. Khi nhận, Bob mở khoá AES rồi xác thực và giải mã bằng GCM. AES xử lý nội dung, RSA bảo vệ khoá; đó là cách hai thuật toán phối hợp. Tuy nhiên, ai có public key Bob cũng tạo được gói hợp lệ. Bạn Thịnh sẽ trình bày cách xác thực người gửi.</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vi-VN" sz="1800">
                <a:latin typeface="Times New Roman"/>
                <a:ea typeface="Times New Roman"/>
                <a:cs typeface="Times New Roman"/>
              </a:rPr>
              <a:t>02:00–02:30. Để Bob biết gói được ký bằng khoá của Alice, nhóm bổ sung RSA-PSS. Alice ký toàn bộ gói mã hoá bằng private key riêng; Bob kiểm tra bằng public key Alice đã tin cậy trước khi giải mã. Để tránh nhận nhầm khoá, hai bên đối chiếu fingerprint, tức SHA-256 của public key, qua kênh tin cậy. Chữ ký đúng không đồng nghĩa tệp sạch mã độc.</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vi-VN" sz="1800">
                <a:latin typeface="Times New Roman"/>
                <a:ea typeface="Times New Roman"/>
                <a:cs typeface="Times New Roman"/>
              </a:rPr>
              <a:t>02:30–03:00. Một điểm nữa là cách giữ khoá. Private key được lưu trong keystore có mật khẩu, nên mở lại ứng dụng vẫn dùng được cặp RSA cũ. Public key có thể chia sẻ qua chứng thư; private key phải giữ kín. Bản demo chạy ngay trên máy qua localhost. Sau đây, bạn Ân sẽ minh hoạ việc tạo gói, giải mã và phát hiện sửa đổi.</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vi-VN" sz="1800">
                <a:latin typeface="Times New Roman"/>
                <a:ea typeface="Times New Roman"/>
                <a:cs typeface="Times New Roman"/>
              </a:rPr>
              <a:t>Chuẩn bị trước khi bắt đầu — không đọc thành lời</a:t>
            </a:r>
          </a:p>
          <a:p>
            <a:r>
              <a:rPr lang="vi-VN" sz="1800">
                <a:latin typeface="Times New Roman"/>
                <a:ea typeface="Times New Roman"/>
                <a:cs typeface="Times New Roman"/>
              </a:rPr>
              <a:t>Mở sẵn ứng dụng và nhập mật khẩu; dùng tệp văn bản nhỏ. Chuẩn bị trước một gói bị sửa bit bằng cùng bộ khoá trình diễn. Không tạo khoá, khởi động lại ứng dụng hoặc sửa hex trực tiếp trong 2 phút. Slide 8 chỉ để chữ DEMO, sau đó chuyển sang trình duyệt.</a:t>
            </a:r>
          </a:p>
          <a:p>
            <a:endParaRPr lang="vi-VN" sz="1800">
              <a:latin typeface="Times New Roman"/>
              <a:ea typeface="Times New Roman"/>
              <a:cs typeface="Times New Roman"/>
            </a:endParaRPr>
          </a:p>
          <a:p>
            <a:r>
              <a:rPr lang="vi-VN" sz="1800">
                <a:latin typeface="Times New Roman"/>
                <a:ea typeface="Times New Roman"/>
                <a:cs typeface="Times New Roman"/>
              </a:rPr>
              <a:t>Slide 8 → Trình duyệt · 03:00–03:25 · Mã hoá và ký</a:t>
            </a:r>
          </a:p>
          <a:p>
            <a:r>
              <a:rPr lang="vi-VN" sz="1800">
                <a:latin typeface="Times New Roman"/>
                <a:ea typeface="Times New Roman"/>
                <a:cs typeface="Times New Roman"/>
              </a:rPr>
              <a:t>Em sẽ bắt đầu với một tệp văn bản nhỏ. Sau khi chọn tệp và bấm mã hoá, ứng dụng tạo gói đã mã hoá và ký. Em tải gói này xuống để sử dụng ở bước tiếp theo.</a:t>
            </a:r>
          </a:p>
          <a:p>
            <a:r>
              <a:rPr lang="vi-VN" sz="1800">
                <a:latin typeface="Times New Roman"/>
                <a:ea typeface="Times New Roman"/>
                <a:cs typeface="Times New Roman"/>
              </a:rPr>
              <a:t>[Thao tác: chọn tệp → mã hoá và ký → tải gói.]</a:t>
            </a:r>
          </a:p>
          <a:p>
            <a:endParaRPr lang="vi-VN" sz="1800">
              <a:latin typeface="Times New Roman"/>
              <a:ea typeface="Times New Roman"/>
              <a:cs typeface="Times New Roman"/>
            </a:endParaRPr>
          </a:p>
          <a:p>
            <a:r>
              <a:rPr lang="vi-VN" sz="1800">
                <a:latin typeface="Times New Roman"/>
                <a:ea typeface="Times New Roman"/>
                <a:cs typeface="Times New Roman"/>
              </a:rPr>
              <a:t>Trình duyệt · 03:25–04:00 · Xác thực và giải mã</a:t>
            </a:r>
          </a:p>
          <a:p>
            <a:r>
              <a:rPr lang="vi-VN" sz="1800">
                <a:latin typeface="Times New Roman"/>
                <a:ea typeface="Times New Roman"/>
                <a:cs typeface="Times New Roman"/>
              </a:rPr>
              <a:t>Tiếp theo, em giải mã gói vừa tạo. Ứng dụng kiểm tra chữ ký Alice trước, rồi mới mở khoá AES và xác thực GCM. Kết quả cho thấy chữ ký hợp lệ; tệp khôi phục có nội dung như ban đầu.</a:t>
            </a:r>
          </a:p>
          <a:p>
            <a:r>
              <a:rPr lang="vi-VN" sz="1800">
                <a:latin typeface="Times New Roman"/>
                <a:ea typeface="Times New Roman"/>
                <a:cs typeface="Times New Roman"/>
              </a:rPr>
              <a:t>[Thao tác: giải mã → chỉ senderVerified=true → tải và mở tệp phục hồi.]</a:t>
            </a:r>
          </a:p>
          <a:p>
            <a:endParaRPr lang="vi-VN" sz="1800">
              <a:latin typeface="Times New Roman"/>
              <a:ea typeface="Times New Roman"/>
              <a:cs typeface="Times New Roman"/>
            </a:endParaRPr>
          </a:p>
          <a:p>
            <a:r>
              <a:rPr lang="vi-VN" sz="1800">
                <a:latin typeface="Times New Roman"/>
                <a:ea typeface="Times New Roman"/>
                <a:cs typeface="Times New Roman"/>
              </a:rPr>
              <a:t>Trình duyệt · 04:00–04:30 · Thử gói bị sửa</a:t>
            </a:r>
          </a:p>
          <a:p>
            <a:r>
              <a:rPr lang="vi-VN" sz="1800">
                <a:latin typeface="Times New Roman"/>
                <a:ea typeface="Times New Roman"/>
                <a:cs typeface="Times New Roman"/>
              </a:rPr>
              <a:t>Bây giờ em thử một bản sao đã bị sửa một bit. Với gói này, ứng dụng báo lỗi và không trả liên kết tải bản rõ. Như vậy, thay đổi trong gói đã được phát hiện.</a:t>
            </a:r>
          </a:p>
          <a:p>
            <a:r>
              <a:rPr lang="vi-VN" sz="1800">
                <a:latin typeface="Times New Roman"/>
                <a:ea typeface="Times New Roman"/>
                <a:cs typeface="Times New Roman"/>
              </a:rPr>
              <a:t>[Thao tác: nạp gói bị sửa đã chuẩn bị trước → thử giải mã → chỉ kết quả từ chối.]</a:t>
            </a:r>
          </a:p>
          <a:p>
            <a:endParaRPr lang="vi-VN" sz="1800">
              <a:latin typeface="Times New Roman"/>
              <a:ea typeface="Times New Roman"/>
              <a:cs typeface="Times New Roman"/>
            </a:endParaRPr>
          </a:p>
          <a:p>
            <a:r>
              <a:rPr lang="vi-VN" sz="1800">
                <a:latin typeface="Times New Roman"/>
                <a:ea typeface="Times New Roman"/>
                <a:cs typeface="Times New Roman"/>
              </a:rPr>
              <a:t>Trình duyệt · 04:30–04:45 · Bằng chứng kiểm thử</a:t>
            </a:r>
          </a:p>
          <a:p>
            <a:r>
              <a:rPr lang="vi-VN" sz="1800">
                <a:latin typeface="Times New Roman"/>
                <a:ea typeface="Times New Roman"/>
                <a:cs typeface="Times New Roman"/>
              </a:rPr>
              <a:t>Cuối cùng, đây là phần đối chiếu 140 ca AES và RSA-OAEP. Kết quả đạt trong phạm vi các ca đã xét; đây không phải chứng nhận NIST cho toàn hệ thống.</a:t>
            </a:r>
          </a:p>
          <a:p>
            <a:r>
              <a:rPr lang="vi-VN" sz="1800">
                <a:latin typeface="Times New Roman"/>
                <a:ea typeface="Times New Roman"/>
                <a:cs typeface="Times New Roman"/>
              </a:rPr>
              <a:t>[Thao tác: tab kiểm thử → chạy đối chiếu → chỉ kết quả 140/140.]</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vi-VN" sz="1800">
                <a:latin typeface="Times New Roman"/>
                <a:ea typeface="Times New Roman"/>
                <a:cs typeface="Times New Roman"/>
              </a:rPr>
              <a:t>04:45–04:55. Bản hiện tại tin cậy máy và người dùng, chưa chống phát lại. Nhóm hướng tới ứng dụng desktop; nếu có server qua mạng, sẽ bổ sung HTTPS và phân quyền.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a:spLocks noGrp="1"/>
          </p:cNvSpPr>
          <p:nvPr>
            <p:ph type="body" idx="1"/>
          </p:nvPr>
        </p:nvSpPr>
        <p:spPr/>
        <p:txBody>
          <a:bodyPr/>
          <a:lstStyle/>
          <a:p>
            <a:r>
              <a:rPr lang="vi-VN" sz="1800">
                <a:latin typeface="Times New Roman"/>
                <a:ea typeface="Times New Roman"/>
                <a:cs typeface="Times New Roman"/>
              </a:rPr>
              <a:t>04:55–05:00. Phần trình bày của nhóm em xin kết thúc. Em cảm ơn thầy đã lắng nghe.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Times New Roman"/>
          <a:ea typeface="Times New Roman"/>
          <a:cs typeface="Times New Roman"/>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Times New Roman"/>
          <a:ea typeface="Times New Roman"/>
          <a:cs typeface="Times New Roman"/>
        </a:defRPr>
      </a:lvl1pPr>
      <a:lvl2pPr marL="742950" indent="-285750" algn="l" defTabSz="457200" rtl="0" eaLnBrk="1" latinLnBrk="0" hangingPunct="1">
        <a:spcBef>
          <a:spcPct val="20000"/>
        </a:spcBef>
        <a:buFont typeface="Arial"/>
        <a:buChar char="–"/>
        <a:defRPr sz="2800" kern="1200">
          <a:solidFill>
            <a:schemeClr val="tx1"/>
          </a:solidFill>
          <a:latin typeface="Times New Roman"/>
          <a:ea typeface="Times New Roman"/>
          <a:cs typeface="Times New Roman"/>
        </a:defRPr>
      </a:lvl2pPr>
      <a:lvl3pPr marL="1143000" indent="-228600" algn="l" defTabSz="457200" rtl="0" eaLnBrk="1" latinLnBrk="0" hangingPunct="1">
        <a:spcBef>
          <a:spcPct val="20000"/>
        </a:spcBef>
        <a:buFont typeface="Arial"/>
        <a:buChar char="•"/>
        <a:defRPr sz="2400" kern="1200">
          <a:solidFill>
            <a:schemeClr val="tx1"/>
          </a:solidFill>
          <a:latin typeface="Times New Roman"/>
          <a:ea typeface="Times New Roman"/>
          <a:cs typeface="Times New Roman"/>
        </a:defRPr>
      </a:lvl3pPr>
      <a:lvl4pPr marL="1600200" indent="-228600" algn="l" defTabSz="457200" rtl="0" eaLnBrk="1" latinLnBrk="0" hangingPunct="1">
        <a:spcBef>
          <a:spcPct val="20000"/>
        </a:spcBef>
        <a:buFont typeface="Arial"/>
        <a:buChar char="–"/>
        <a:defRPr sz="2000" kern="1200">
          <a:solidFill>
            <a:schemeClr val="tx1"/>
          </a:solidFill>
          <a:latin typeface="Times New Roman"/>
          <a:ea typeface="Times New Roman"/>
          <a:cs typeface="Times New Roman"/>
        </a:defRPr>
      </a:lvl4pPr>
      <a:lvl5pPr marL="2057400" indent="-228600" algn="l" defTabSz="457200" rtl="0" eaLnBrk="1" latinLnBrk="0" hangingPunct="1">
        <a:spcBef>
          <a:spcPct val="20000"/>
        </a:spcBef>
        <a:buFont typeface="Arial"/>
        <a:buChar char="»"/>
        <a:defRPr sz="2000" kern="1200">
          <a:solidFill>
            <a:schemeClr val="tx1"/>
          </a:solidFill>
          <a:latin typeface="Times New Roman"/>
          <a:ea typeface="Times New Roman"/>
          <a:cs typeface="Times New Roman"/>
        </a:defRPr>
      </a:lvl5pPr>
      <a:lvl6pPr marL="2514600" indent="-228600" algn="l" defTabSz="457200" rtl="0" eaLnBrk="1" latinLnBrk="0" hangingPunct="1">
        <a:spcBef>
          <a:spcPct val="20000"/>
        </a:spcBef>
        <a:buFont typeface="Arial"/>
        <a:buChar char="•"/>
        <a:defRPr sz="2000" kern="1200">
          <a:solidFill>
            <a:schemeClr val="tx1"/>
          </a:solidFill>
          <a:latin typeface="Times New Roman"/>
          <a:ea typeface="Times New Roman"/>
          <a:cs typeface="Times New Roman"/>
        </a:defRPr>
      </a:lvl6pPr>
      <a:lvl7pPr marL="2971800" indent="-228600" algn="l" defTabSz="457200" rtl="0" eaLnBrk="1" latinLnBrk="0" hangingPunct="1">
        <a:spcBef>
          <a:spcPct val="20000"/>
        </a:spcBef>
        <a:buFont typeface="Arial"/>
        <a:buChar char="•"/>
        <a:defRPr sz="2000" kern="1200">
          <a:solidFill>
            <a:schemeClr val="tx1"/>
          </a:solidFill>
          <a:latin typeface="Times New Roman"/>
          <a:ea typeface="Times New Roman"/>
          <a:cs typeface="Times New Roman"/>
        </a:defRPr>
      </a:lvl7pPr>
      <a:lvl8pPr marL="3429000" indent="-228600" algn="l" defTabSz="457200" rtl="0" eaLnBrk="1" latinLnBrk="0" hangingPunct="1">
        <a:spcBef>
          <a:spcPct val="20000"/>
        </a:spcBef>
        <a:buFont typeface="Arial"/>
        <a:buChar char="•"/>
        <a:defRPr sz="2000" kern="1200">
          <a:solidFill>
            <a:schemeClr val="tx1"/>
          </a:solidFill>
          <a:latin typeface="Times New Roman"/>
          <a:ea typeface="Times New Roman"/>
          <a:cs typeface="Times New Roman"/>
        </a:defRPr>
      </a:lvl8pPr>
      <a:lvl9pPr marL="3886200" indent="-228600" algn="l" defTabSz="457200" rtl="0" eaLnBrk="1" latinLnBrk="0" hangingPunct="1">
        <a:spcBef>
          <a:spcPct val="20000"/>
        </a:spcBef>
        <a:buFont typeface="Arial"/>
        <a:buChar char="•"/>
        <a:defRPr sz="2000" kern="1200">
          <a:solidFill>
            <a:schemeClr val="tx1"/>
          </a:solidFill>
          <a:latin typeface="Times New Roman"/>
          <a:ea typeface="Times New Roman"/>
          <a:cs typeface="Times New Roman"/>
        </a:defRPr>
      </a:lvl9pPr>
    </p:bodyStyle>
    <p:otherStyle>
      <a:defPPr>
        <a:defRPr lang="en-US"/>
      </a:defPPr>
      <a:lvl1pPr marL="0" algn="l" defTabSz="457200" rtl="0" eaLnBrk="1" latinLnBrk="0" hangingPunct="1">
        <a:defRPr sz="1800" kern="1200">
          <a:solidFill>
            <a:schemeClr val="tx1"/>
          </a:solidFill>
          <a:latin typeface="Times New Roman"/>
          <a:ea typeface="Times New Roman"/>
          <a:cs typeface="Times New Roman"/>
        </a:defRPr>
      </a:lvl1pPr>
      <a:lvl2pPr marL="457200" algn="l" defTabSz="457200" rtl="0" eaLnBrk="1" latinLnBrk="0" hangingPunct="1">
        <a:defRPr sz="1800" kern="1200">
          <a:solidFill>
            <a:schemeClr val="tx1"/>
          </a:solidFill>
          <a:latin typeface="Times New Roman"/>
          <a:ea typeface="Times New Roman"/>
          <a:cs typeface="Times New Roman"/>
        </a:defRPr>
      </a:lvl2pPr>
      <a:lvl3pPr marL="914400" algn="l" defTabSz="457200" rtl="0" eaLnBrk="1" latinLnBrk="0" hangingPunct="1">
        <a:defRPr sz="1800" kern="1200">
          <a:solidFill>
            <a:schemeClr val="tx1"/>
          </a:solidFill>
          <a:latin typeface="Times New Roman"/>
          <a:ea typeface="Times New Roman"/>
          <a:cs typeface="Times New Roman"/>
        </a:defRPr>
      </a:lvl3pPr>
      <a:lvl4pPr marL="1371600" algn="l" defTabSz="457200" rtl="0" eaLnBrk="1" latinLnBrk="0" hangingPunct="1">
        <a:defRPr sz="1800" kern="1200">
          <a:solidFill>
            <a:schemeClr val="tx1"/>
          </a:solidFill>
          <a:latin typeface="Times New Roman"/>
          <a:ea typeface="Times New Roman"/>
          <a:cs typeface="Times New Roman"/>
        </a:defRPr>
      </a:lvl4pPr>
      <a:lvl5pPr marL="1828800" algn="l" defTabSz="457200" rtl="0" eaLnBrk="1" latinLnBrk="0" hangingPunct="1">
        <a:defRPr sz="1800" kern="1200">
          <a:solidFill>
            <a:schemeClr val="tx1"/>
          </a:solidFill>
          <a:latin typeface="Times New Roman"/>
          <a:ea typeface="Times New Roman"/>
          <a:cs typeface="Times New Roman"/>
        </a:defRPr>
      </a:lvl5pPr>
      <a:lvl6pPr marL="2286000" algn="l" defTabSz="457200" rtl="0" eaLnBrk="1" latinLnBrk="0" hangingPunct="1">
        <a:defRPr sz="1800" kern="1200">
          <a:solidFill>
            <a:schemeClr val="tx1"/>
          </a:solidFill>
          <a:latin typeface="Times New Roman"/>
          <a:ea typeface="Times New Roman"/>
          <a:cs typeface="Times New Roman"/>
        </a:defRPr>
      </a:lvl6pPr>
      <a:lvl7pPr marL="2743200" algn="l" defTabSz="457200" rtl="0" eaLnBrk="1" latinLnBrk="0" hangingPunct="1">
        <a:defRPr sz="1800" kern="1200">
          <a:solidFill>
            <a:schemeClr val="tx1"/>
          </a:solidFill>
          <a:latin typeface="Times New Roman"/>
          <a:ea typeface="Times New Roman"/>
          <a:cs typeface="Times New Roman"/>
        </a:defRPr>
      </a:lvl7pPr>
      <a:lvl8pPr marL="3200400" algn="l" defTabSz="457200" rtl="0" eaLnBrk="1" latinLnBrk="0" hangingPunct="1">
        <a:defRPr sz="1800" kern="1200">
          <a:solidFill>
            <a:schemeClr val="tx1"/>
          </a:solidFill>
          <a:latin typeface="Times New Roman"/>
          <a:ea typeface="Times New Roman"/>
          <a:cs typeface="Times New Roman"/>
        </a:defRPr>
      </a:lvl8pPr>
      <a:lvl9pPr marL="3657600" algn="l" defTabSz="457200" rtl="0" eaLnBrk="1" latinLnBrk="0" hangingPunct="1">
        <a:defRPr sz="1800" kern="1200">
          <a:solidFill>
            <a:schemeClr val="tx1"/>
          </a:solidFill>
          <a:latin typeface="Times New Roman"/>
          <a:ea typeface="Times New Roman"/>
          <a:cs typeface="Times New Roman"/>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ement 2"/>
          <p:cNvSpPr/>
          <p:nvPr/>
        </p:nvSpPr>
        <p:spPr>
          <a:xfrm>
            <a:off x="0" y="0"/>
            <a:ext cx="12192000" cy="6858000"/>
          </a:xfrm>
          <a:prstGeom prst="rect">
            <a:avLst/>
          </a:prstGeom>
          <a:solidFill>
            <a:srgbClr val="F4EFE5"/>
          </a:solidFill>
          <a:ln>
            <a:noFill/>
          </a:ln>
        </p:spPr>
      </p:sp>
      <p:sp>
        <p:nvSpPr>
          <p:cNvPr id="3" name="Element 3"/>
          <p:cNvSpPr/>
          <p:nvPr/>
        </p:nvSpPr>
        <p:spPr>
          <a:xfrm>
            <a:off x="7143750" y="0"/>
            <a:ext cx="5048250" cy="6858000"/>
          </a:xfrm>
          <a:prstGeom prst="rect">
            <a:avLst/>
          </a:prstGeom>
          <a:solidFill>
            <a:srgbClr val="182D28"/>
          </a:solidFill>
          <a:ln>
            <a:noFill/>
          </a:ln>
        </p:spPr>
      </p:sp>
      <p:sp>
        <p:nvSpPr>
          <p:cNvPr id="4" name="Element 4"/>
          <p:cNvSpPr txBox="1"/>
          <p:nvPr/>
        </p:nvSpPr>
        <p:spPr>
          <a:xfrm>
            <a:off x="571500" y="438150"/>
            <a:ext cx="6191250" cy="428625"/>
          </a:xfrm>
          <a:prstGeom prst="rect">
            <a:avLst/>
          </a:prstGeom>
          <a:noFill/>
        </p:spPr>
        <p:txBody>
          <a:bodyPr wrap="square" lIns="0" tIns="0" rIns="0" bIns="0">
            <a:noAutofit/>
          </a:bodyPr>
          <a:lstStyle/>
          <a:p>
            <a:pPr algn="l">
              <a:lnSpc>
                <a:spcPct val="112000"/>
              </a:lnSpc>
              <a:spcAft>
                <a:spcPts val="500"/>
              </a:spcAft>
            </a:pPr>
            <a:r>
              <a:rPr lang="vi-VN" sz="1800" b="1">
                <a:solidFill>
                  <a:srgbClr val="A9472E"/>
                </a:solidFill>
                <a:latin typeface="Times New Roman"/>
                <a:ea typeface="Times New Roman"/>
                <a:cs typeface="Times New Roman"/>
              </a:rPr>
              <a:t>BẢO MẬT MÁY TÍNH VÀ HỆ THỐNG</a:t>
            </a:r>
          </a:p>
        </p:txBody>
      </p:sp>
      <p:sp>
        <p:nvSpPr>
          <p:cNvPr id="5" name="Element 5"/>
          <p:cNvSpPr txBox="1"/>
          <p:nvPr/>
        </p:nvSpPr>
        <p:spPr>
          <a:xfrm>
            <a:off x="533400" y="1428750"/>
            <a:ext cx="6286500" cy="1952625"/>
          </a:xfrm>
          <a:prstGeom prst="rect">
            <a:avLst/>
          </a:prstGeom>
          <a:noFill/>
        </p:spPr>
        <p:txBody>
          <a:bodyPr wrap="square" lIns="0" tIns="0" rIns="0" bIns="0">
            <a:noAutofit/>
          </a:bodyPr>
          <a:lstStyle/>
          <a:p>
            <a:pPr algn="l">
              <a:lnSpc>
                <a:spcPct val="112000"/>
              </a:lnSpc>
              <a:spcAft>
                <a:spcPts val="500"/>
              </a:spcAft>
            </a:pPr>
            <a:r>
              <a:rPr lang="vi-VN" sz="3500" b="1">
                <a:solidFill>
                  <a:srgbClr val="24332F"/>
                </a:solidFill>
                <a:latin typeface="Times New Roman"/>
                <a:ea typeface="Times New Roman"/>
                <a:cs typeface="Times New Roman"/>
              </a:rPr>
              <a:t>MÃ HOÁ LAI</a:t>
            </a:r>
          </a:p>
          <a:p>
            <a:pPr algn="l">
              <a:lnSpc>
                <a:spcPct val="112000"/>
              </a:lnSpc>
              <a:spcAft>
                <a:spcPts val="500"/>
              </a:spcAft>
            </a:pPr>
            <a:r>
              <a:rPr lang="vi-VN" sz="3500" b="1">
                <a:solidFill>
                  <a:srgbClr val="24332F"/>
                </a:solidFill>
                <a:latin typeface="Times New Roman"/>
                <a:ea typeface="Times New Roman"/>
                <a:cs typeface="Times New Roman"/>
              </a:rPr>
              <a:t>CHO TRAO ĐỔI TỆP</a:t>
            </a:r>
          </a:p>
        </p:txBody>
      </p:sp>
      <p:sp>
        <p:nvSpPr>
          <p:cNvPr id="6" name="Element 6"/>
          <p:cNvSpPr/>
          <p:nvPr/>
        </p:nvSpPr>
        <p:spPr>
          <a:xfrm>
            <a:off x="590550" y="3705225"/>
            <a:ext cx="5667375" cy="9525"/>
          </a:xfrm>
          <a:prstGeom prst="rect">
            <a:avLst/>
          </a:prstGeom>
          <a:solidFill>
            <a:srgbClr val="A9472E"/>
          </a:solidFill>
          <a:ln>
            <a:noFill/>
          </a:ln>
        </p:spPr>
      </p:sp>
      <p:sp>
        <p:nvSpPr>
          <p:cNvPr id="7" name="Element 7"/>
          <p:cNvSpPr txBox="1"/>
          <p:nvPr/>
        </p:nvSpPr>
        <p:spPr>
          <a:xfrm>
            <a:off x="590550" y="3962400"/>
            <a:ext cx="5905500" cy="952500"/>
          </a:xfrm>
          <a:prstGeom prst="rect">
            <a:avLst/>
          </a:prstGeom>
          <a:noFill/>
        </p:spPr>
        <p:txBody>
          <a:bodyPr wrap="square" lIns="0" tIns="0" rIns="0" bIns="0">
            <a:noAutofit/>
          </a:bodyPr>
          <a:lstStyle/>
          <a:p>
            <a:pPr algn="l">
              <a:lnSpc>
                <a:spcPct val="112000"/>
              </a:lnSpc>
              <a:spcAft>
                <a:spcPts val="500"/>
              </a:spcAft>
            </a:pPr>
            <a:r>
              <a:rPr lang="vi-VN" sz="2200" b="0" dirty="0">
                <a:solidFill>
                  <a:srgbClr val="24332F"/>
                </a:solidFill>
                <a:latin typeface="Times New Roman"/>
                <a:ea typeface="Times New Roman"/>
                <a:cs typeface="Times New Roman"/>
              </a:rPr>
              <a:t>AES-GCM  /  RSA-OAEP</a:t>
            </a:r>
          </a:p>
          <a:p>
            <a:pPr algn="l">
              <a:lnSpc>
                <a:spcPct val="112000"/>
              </a:lnSpc>
              <a:spcAft>
                <a:spcPts val="500"/>
              </a:spcAft>
            </a:pPr>
            <a:r>
              <a:rPr lang="vi-VN" sz="2200" b="0">
                <a:solidFill>
                  <a:srgbClr val="24332F"/>
                </a:solidFill>
                <a:latin typeface="Times New Roman"/>
                <a:ea typeface="Times New Roman"/>
                <a:cs typeface="Times New Roman"/>
              </a:rPr>
              <a:t>Chữ ký số RSA-PSS</a:t>
            </a:r>
          </a:p>
        </p:txBody>
      </p:sp>
      <p:sp>
        <p:nvSpPr>
          <p:cNvPr id="8" name="Element 8"/>
          <p:cNvSpPr txBox="1"/>
          <p:nvPr/>
        </p:nvSpPr>
        <p:spPr>
          <a:xfrm>
            <a:off x="590550" y="5476875"/>
            <a:ext cx="6048375" cy="400050"/>
          </a:xfrm>
          <a:prstGeom prst="rect">
            <a:avLst/>
          </a:prstGeom>
          <a:noFill/>
        </p:spPr>
        <p:txBody>
          <a:bodyPr wrap="square" lIns="0" tIns="0" rIns="0" bIns="0">
            <a:noAutofit/>
          </a:bodyPr>
          <a:lstStyle/>
          <a:p>
            <a:pPr algn="l">
              <a:lnSpc>
                <a:spcPct val="112000"/>
              </a:lnSpc>
              <a:spcAft>
                <a:spcPts val="500"/>
              </a:spcAft>
            </a:pPr>
            <a:r>
              <a:rPr lang="vi-VN" sz="1800" b="1">
                <a:solidFill>
                  <a:srgbClr val="A9472E"/>
                </a:solidFill>
                <a:latin typeface="Times New Roman"/>
                <a:ea typeface="Times New Roman"/>
                <a:cs typeface="Times New Roman"/>
              </a:rPr>
              <a:t>NHÓM 5  ·  LỚP 11_ĐH_CNPM2</a:t>
            </a:r>
          </a:p>
        </p:txBody>
      </p:sp>
      <p:sp>
        <p:nvSpPr>
          <p:cNvPr id="9" name="Element 9"/>
          <p:cNvSpPr txBox="1"/>
          <p:nvPr/>
        </p:nvSpPr>
        <p:spPr>
          <a:xfrm>
            <a:off x="590550" y="5962650"/>
            <a:ext cx="6048375" cy="409575"/>
          </a:xfrm>
          <a:prstGeom prst="rect">
            <a:avLst/>
          </a:prstGeom>
          <a:noFill/>
        </p:spPr>
        <p:txBody>
          <a:bodyPr wrap="square" lIns="0" tIns="0" rIns="0" bIns="0">
            <a:noAutofit/>
          </a:bodyPr>
          <a:lstStyle/>
          <a:p>
            <a:pPr algn="l">
              <a:lnSpc>
                <a:spcPct val="112000"/>
              </a:lnSpc>
              <a:spcAft>
                <a:spcPts val="500"/>
              </a:spcAft>
            </a:pPr>
            <a:r>
              <a:rPr lang="vi-VN" sz="1800" b="0" dirty="0">
                <a:solidFill>
                  <a:srgbClr val="24332F"/>
                </a:solidFill>
                <a:latin typeface="Times New Roman"/>
                <a:ea typeface="Times New Roman"/>
                <a:cs typeface="Times New Roman"/>
              </a:rPr>
              <a:t>Giảng viên hướng dẫn: ThS. Hà Châu Hoàng</a:t>
            </a:r>
          </a:p>
        </p:txBody>
      </p:sp>
      <p:sp>
        <p:nvSpPr>
          <p:cNvPr id="10" name="Element 10"/>
          <p:cNvSpPr txBox="1"/>
          <p:nvPr/>
        </p:nvSpPr>
        <p:spPr>
          <a:xfrm>
            <a:off x="7572375" y="1133475"/>
            <a:ext cx="4048125" cy="428625"/>
          </a:xfrm>
          <a:prstGeom prst="rect">
            <a:avLst/>
          </a:prstGeom>
          <a:noFill/>
        </p:spPr>
        <p:txBody>
          <a:bodyPr wrap="square" lIns="0" tIns="0" rIns="0" bIns="0">
            <a:noAutofit/>
          </a:bodyPr>
          <a:lstStyle/>
          <a:p>
            <a:pPr algn="l">
              <a:lnSpc>
                <a:spcPct val="112000"/>
              </a:lnSpc>
              <a:spcAft>
                <a:spcPts val="500"/>
              </a:spcAft>
            </a:pPr>
            <a:r>
              <a:rPr lang="vi-VN" sz="2200" b="1">
                <a:solidFill>
                  <a:srgbClr val="D6B67D"/>
                </a:solidFill>
                <a:latin typeface="Times New Roman"/>
                <a:ea typeface="Times New Roman"/>
                <a:cs typeface="Times New Roman"/>
              </a:rPr>
              <a:t>THÀNH VIÊN NHÓM</a:t>
            </a:r>
          </a:p>
        </p:txBody>
      </p:sp>
      <p:sp>
        <p:nvSpPr>
          <p:cNvPr id="11" name="Element 11"/>
          <p:cNvSpPr/>
          <p:nvPr/>
        </p:nvSpPr>
        <p:spPr>
          <a:xfrm>
            <a:off x="7572375" y="1962150"/>
            <a:ext cx="3943350" cy="9525"/>
          </a:xfrm>
          <a:prstGeom prst="rect">
            <a:avLst/>
          </a:prstGeom>
          <a:solidFill>
            <a:srgbClr val="496052"/>
          </a:solidFill>
          <a:ln>
            <a:noFill/>
          </a:ln>
        </p:spPr>
      </p:sp>
      <p:sp>
        <p:nvSpPr>
          <p:cNvPr id="12" name="Element 12"/>
          <p:cNvSpPr txBox="1"/>
          <p:nvPr/>
        </p:nvSpPr>
        <p:spPr>
          <a:xfrm>
            <a:off x="7572375" y="2114550"/>
            <a:ext cx="4048125" cy="409575"/>
          </a:xfrm>
          <a:prstGeom prst="rect">
            <a:avLst/>
          </a:prstGeom>
          <a:noFill/>
        </p:spPr>
        <p:txBody>
          <a:bodyPr wrap="square" lIns="0" tIns="0" rIns="0" bIns="0">
            <a:noAutofit/>
          </a:bodyPr>
          <a:lstStyle/>
          <a:p>
            <a:pPr algn="l">
              <a:lnSpc>
                <a:spcPct val="112000"/>
              </a:lnSpc>
              <a:spcAft>
                <a:spcPts val="500"/>
              </a:spcAft>
            </a:pPr>
            <a:r>
              <a:rPr lang="vi-VN" sz="2000" b="1">
                <a:solidFill>
                  <a:srgbClr val="F4EFE5"/>
                </a:solidFill>
                <a:latin typeface="Times New Roman"/>
                <a:ea typeface="Times New Roman"/>
                <a:cs typeface="Times New Roman"/>
              </a:rPr>
              <a:t>Trần Phạm Thiên Ân</a:t>
            </a:r>
          </a:p>
        </p:txBody>
      </p:sp>
      <p:sp>
        <p:nvSpPr>
          <p:cNvPr id="13" name="Element 13"/>
          <p:cNvSpPr txBox="1"/>
          <p:nvPr/>
        </p:nvSpPr>
        <p:spPr>
          <a:xfrm>
            <a:off x="7572375" y="2543175"/>
            <a:ext cx="4048125" cy="333375"/>
          </a:xfrm>
          <a:prstGeom prst="rect">
            <a:avLst/>
          </a:prstGeom>
          <a:noFill/>
        </p:spPr>
        <p:txBody>
          <a:bodyPr wrap="square" lIns="0" tIns="0" rIns="0" bIns="0">
            <a:noAutofit/>
          </a:bodyPr>
          <a:lstStyle/>
          <a:p>
            <a:pPr algn="l">
              <a:lnSpc>
                <a:spcPct val="112000"/>
              </a:lnSpc>
              <a:spcAft>
                <a:spcPts val="500"/>
              </a:spcAft>
            </a:pPr>
            <a:r>
              <a:rPr lang="vi-VN" sz="1600" b="0">
                <a:solidFill>
                  <a:srgbClr val="D6B67D"/>
                </a:solidFill>
                <a:latin typeface="Times New Roman"/>
                <a:ea typeface="Times New Roman"/>
                <a:cs typeface="Times New Roman"/>
              </a:rPr>
              <a:t>MSSV: 1150080127</a:t>
            </a:r>
          </a:p>
        </p:txBody>
      </p:sp>
      <p:sp>
        <p:nvSpPr>
          <p:cNvPr id="14" name="Element 14"/>
          <p:cNvSpPr/>
          <p:nvPr/>
        </p:nvSpPr>
        <p:spPr>
          <a:xfrm>
            <a:off x="7572375" y="2990850"/>
            <a:ext cx="3943350" cy="9525"/>
          </a:xfrm>
          <a:prstGeom prst="rect">
            <a:avLst/>
          </a:prstGeom>
          <a:solidFill>
            <a:srgbClr val="496052"/>
          </a:solidFill>
          <a:ln>
            <a:noFill/>
          </a:ln>
        </p:spPr>
      </p:sp>
      <p:sp>
        <p:nvSpPr>
          <p:cNvPr id="15" name="Element 15"/>
          <p:cNvSpPr txBox="1"/>
          <p:nvPr/>
        </p:nvSpPr>
        <p:spPr>
          <a:xfrm>
            <a:off x="7572375" y="3143250"/>
            <a:ext cx="4048125" cy="409575"/>
          </a:xfrm>
          <a:prstGeom prst="rect">
            <a:avLst/>
          </a:prstGeom>
          <a:noFill/>
        </p:spPr>
        <p:txBody>
          <a:bodyPr wrap="square" lIns="0" tIns="0" rIns="0" bIns="0">
            <a:noAutofit/>
          </a:bodyPr>
          <a:lstStyle/>
          <a:p>
            <a:pPr algn="l">
              <a:lnSpc>
                <a:spcPct val="112000"/>
              </a:lnSpc>
              <a:spcAft>
                <a:spcPts val="500"/>
              </a:spcAft>
            </a:pPr>
            <a:r>
              <a:rPr lang="vi-VN" sz="2000" b="1">
                <a:solidFill>
                  <a:srgbClr val="F4EFE5"/>
                </a:solidFill>
                <a:latin typeface="Times New Roman"/>
                <a:ea typeface="Times New Roman"/>
                <a:cs typeface="Times New Roman"/>
              </a:rPr>
              <a:t>Nguyễn Thành Việt</a:t>
            </a:r>
          </a:p>
        </p:txBody>
      </p:sp>
      <p:sp>
        <p:nvSpPr>
          <p:cNvPr id="16" name="Element 16"/>
          <p:cNvSpPr txBox="1"/>
          <p:nvPr/>
        </p:nvSpPr>
        <p:spPr>
          <a:xfrm>
            <a:off x="7572375" y="3571875"/>
            <a:ext cx="4048125" cy="333375"/>
          </a:xfrm>
          <a:prstGeom prst="rect">
            <a:avLst/>
          </a:prstGeom>
          <a:noFill/>
        </p:spPr>
        <p:txBody>
          <a:bodyPr wrap="square" lIns="0" tIns="0" rIns="0" bIns="0">
            <a:noAutofit/>
          </a:bodyPr>
          <a:lstStyle/>
          <a:p>
            <a:pPr algn="l">
              <a:lnSpc>
                <a:spcPct val="112000"/>
              </a:lnSpc>
              <a:spcAft>
                <a:spcPts val="500"/>
              </a:spcAft>
            </a:pPr>
            <a:r>
              <a:rPr lang="vi-VN" sz="1600" b="0">
                <a:solidFill>
                  <a:srgbClr val="D6B67D"/>
                </a:solidFill>
                <a:latin typeface="Times New Roman"/>
                <a:ea typeface="Times New Roman"/>
                <a:cs typeface="Times New Roman"/>
              </a:rPr>
              <a:t>MSSV: ........................</a:t>
            </a:r>
          </a:p>
        </p:txBody>
      </p:sp>
      <p:sp>
        <p:nvSpPr>
          <p:cNvPr id="17" name="Element 17"/>
          <p:cNvSpPr/>
          <p:nvPr/>
        </p:nvSpPr>
        <p:spPr>
          <a:xfrm>
            <a:off x="7572375" y="4019550"/>
            <a:ext cx="3943350" cy="9525"/>
          </a:xfrm>
          <a:prstGeom prst="rect">
            <a:avLst/>
          </a:prstGeom>
          <a:solidFill>
            <a:srgbClr val="496052"/>
          </a:solidFill>
          <a:ln>
            <a:noFill/>
          </a:ln>
        </p:spPr>
      </p:sp>
      <p:sp>
        <p:nvSpPr>
          <p:cNvPr id="18" name="Element 18"/>
          <p:cNvSpPr txBox="1"/>
          <p:nvPr/>
        </p:nvSpPr>
        <p:spPr>
          <a:xfrm>
            <a:off x="7572375" y="4171950"/>
            <a:ext cx="4048125" cy="409575"/>
          </a:xfrm>
          <a:prstGeom prst="rect">
            <a:avLst/>
          </a:prstGeom>
          <a:noFill/>
        </p:spPr>
        <p:txBody>
          <a:bodyPr wrap="square" lIns="0" tIns="0" rIns="0" bIns="0">
            <a:noAutofit/>
          </a:bodyPr>
          <a:lstStyle/>
          <a:p>
            <a:pPr algn="l">
              <a:lnSpc>
                <a:spcPct val="112000"/>
              </a:lnSpc>
              <a:spcAft>
                <a:spcPts val="500"/>
              </a:spcAft>
            </a:pPr>
            <a:r>
              <a:rPr lang="vi-VN" sz="2000" b="1">
                <a:solidFill>
                  <a:srgbClr val="F4EFE5"/>
                </a:solidFill>
                <a:latin typeface="Times New Roman"/>
                <a:ea typeface="Times New Roman"/>
                <a:cs typeface="Times New Roman"/>
              </a:rPr>
              <a:t>Lê Công Đạt</a:t>
            </a:r>
          </a:p>
        </p:txBody>
      </p:sp>
      <p:sp>
        <p:nvSpPr>
          <p:cNvPr id="19" name="Element 19"/>
          <p:cNvSpPr txBox="1"/>
          <p:nvPr/>
        </p:nvSpPr>
        <p:spPr>
          <a:xfrm>
            <a:off x="7572375" y="4600575"/>
            <a:ext cx="4048125" cy="333375"/>
          </a:xfrm>
          <a:prstGeom prst="rect">
            <a:avLst/>
          </a:prstGeom>
          <a:noFill/>
        </p:spPr>
        <p:txBody>
          <a:bodyPr wrap="square" lIns="0" tIns="0" rIns="0" bIns="0">
            <a:noAutofit/>
          </a:bodyPr>
          <a:lstStyle/>
          <a:p>
            <a:pPr algn="l">
              <a:lnSpc>
                <a:spcPct val="112000"/>
              </a:lnSpc>
              <a:spcAft>
                <a:spcPts val="500"/>
              </a:spcAft>
            </a:pPr>
            <a:r>
              <a:rPr lang="vi-VN" sz="1600" b="0">
                <a:solidFill>
                  <a:srgbClr val="D6B67D"/>
                </a:solidFill>
                <a:latin typeface="Times New Roman"/>
                <a:ea typeface="Times New Roman"/>
                <a:cs typeface="Times New Roman"/>
              </a:rPr>
              <a:t>MSSV: ........................</a:t>
            </a:r>
          </a:p>
        </p:txBody>
      </p:sp>
      <p:sp>
        <p:nvSpPr>
          <p:cNvPr id="20" name="Element 20"/>
          <p:cNvSpPr/>
          <p:nvPr/>
        </p:nvSpPr>
        <p:spPr>
          <a:xfrm>
            <a:off x="7572375" y="5048250"/>
            <a:ext cx="3943350" cy="9525"/>
          </a:xfrm>
          <a:prstGeom prst="rect">
            <a:avLst/>
          </a:prstGeom>
          <a:solidFill>
            <a:srgbClr val="496052"/>
          </a:solidFill>
          <a:ln>
            <a:noFill/>
          </a:ln>
        </p:spPr>
      </p:sp>
      <p:sp>
        <p:nvSpPr>
          <p:cNvPr id="21" name="Element 21"/>
          <p:cNvSpPr txBox="1"/>
          <p:nvPr/>
        </p:nvSpPr>
        <p:spPr>
          <a:xfrm>
            <a:off x="7572375" y="5200650"/>
            <a:ext cx="4048125" cy="409575"/>
          </a:xfrm>
          <a:prstGeom prst="rect">
            <a:avLst/>
          </a:prstGeom>
          <a:noFill/>
        </p:spPr>
        <p:txBody>
          <a:bodyPr wrap="square" lIns="0" tIns="0" rIns="0" bIns="0">
            <a:noAutofit/>
          </a:bodyPr>
          <a:lstStyle/>
          <a:p>
            <a:pPr algn="l">
              <a:lnSpc>
                <a:spcPct val="112000"/>
              </a:lnSpc>
              <a:spcAft>
                <a:spcPts val="500"/>
              </a:spcAft>
            </a:pPr>
            <a:r>
              <a:rPr lang="vi-VN" sz="2000" b="1">
                <a:solidFill>
                  <a:srgbClr val="F4EFE5"/>
                </a:solidFill>
                <a:latin typeface="Times New Roman"/>
                <a:ea typeface="Times New Roman"/>
                <a:cs typeface="Times New Roman"/>
              </a:rPr>
              <a:t>Nguyễn Trường Thịnh</a:t>
            </a:r>
          </a:p>
        </p:txBody>
      </p:sp>
      <p:sp>
        <p:nvSpPr>
          <p:cNvPr id="22" name="Element 22"/>
          <p:cNvSpPr txBox="1"/>
          <p:nvPr/>
        </p:nvSpPr>
        <p:spPr>
          <a:xfrm>
            <a:off x="7572375" y="5629275"/>
            <a:ext cx="4048125" cy="333375"/>
          </a:xfrm>
          <a:prstGeom prst="rect">
            <a:avLst/>
          </a:prstGeom>
          <a:noFill/>
        </p:spPr>
        <p:txBody>
          <a:bodyPr wrap="square" lIns="0" tIns="0" rIns="0" bIns="0">
            <a:noAutofit/>
          </a:bodyPr>
          <a:lstStyle/>
          <a:p>
            <a:pPr algn="l">
              <a:lnSpc>
                <a:spcPct val="112000"/>
              </a:lnSpc>
              <a:spcAft>
                <a:spcPts val="500"/>
              </a:spcAft>
            </a:pPr>
            <a:r>
              <a:rPr lang="vi-VN" sz="1600" b="0">
                <a:solidFill>
                  <a:srgbClr val="D6B67D"/>
                </a:solidFill>
                <a:latin typeface="Times New Roman"/>
                <a:ea typeface="Times New Roman"/>
                <a:cs typeface="Times New Roman"/>
              </a:rPr>
              <a:t>MSSV: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ement 2"/>
          <p:cNvSpPr/>
          <p:nvPr/>
        </p:nvSpPr>
        <p:spPr>
          <a:xfrm>
            <a:off x="0" y="0"/>
            <a:ext cx="12192000" cy="6858000"/>
          </a:xfrm>
          <a:prstGeom prst="rect">
            <a:avLst/>
          </a:prstGeom>
          <a:solidFill>
            <a:srgbClr val="F4EFE5"/>
          </a:solidFill>
          <a:ln>
            <a:noFill/>
          </a:ln>
        </p:spPr>
      </p:sp>
      <p:sp>
        <p:nvSpPr>
          <p:cNvPr id="3" name="Element 3"/>
          <p:cNvSpPr/>
          <p:nvPr/>
        </p:nvSpPr>
        <p:spPr>
          <a:xfrm>
            <a:off x="457200" y="495300"/>
            <a:ext cx="66675" cy="800100"/>
          </a:xfrm>
          <a:prstGeom prst="rect">
            <a:avLst/>
          </a:prstGeom>
          <a:solidFill>
            <a:srgbClr val="A9472E"/>
          </a:solidFill>
          <a:ln>
            <a:noFill/>
          </a:ln>
        </p:spPr>
      </p:sp>
      <p:sp>
        <p:nvSpPr>
          <p:cNvPr id="4" name="Element 4"/>
          <p:cNvSpPr txBox="1"/>
          <p:nvPr/>
        </p:nvSpPr>
        <p:spPr>
          <a:xfrm>
            <a:off x="762000" y="495300"/>
            <a:ext cx="10477500" cy="323850"/>
          </a:xfrm>
          <a:prstGeom prst="rect">
            <a:avLst/>
          </a:prstGeom>
          <a:noFill/>
        </p:spPr>
        <p:txBody>
          <a:bodyPr wrap="square" lIns="0" tIns="0" rIns="0" bIns="0">
            <a:noAutofit/>
          </a:bodyPr>
          <a:lstStyle/>
          <a:p>
            <a:pPr algn="l">
              <a:lnSpc>
                <a:spcPct val="112000"/>
              </a:lnSpc>
              <a:spcAft>
                <a:spcPts val="500"/>
              </a:spcAft>
            </a:pPr>
            <a:r>
              <a:rPr lang="vi-VN" sz="2000" b="1" dirty="0">
                <a:solidFill>
                  <a:srgbClr val="A9472E"/>
                </a:solidFill>
                <a:latin typeface="Times New Roman"/>
                <a:ea typeface="Times New Roman"/>
                <a:cs typeface="Times New Roman"/>
              </a:rPr>
              <a:t>01 / AES-GCM </a:t>
            </a:r>
          </a:p>
        </p:txBody>
      </p:sp>
      <p:sp>
        <p:nvSpPr>
          <p:cNvPr id="5" name="Element 5"/>
          <p:cNvSpPr txBox="1"/>
          <p:nvPr/>
        </p:nvSpPr>
        <p:spPr>
          <a:xfrm>
            <a:off x="742950" y="1000125"/>
            <a:ext cx="10620375" cy="990600"/>
          </a:xfrm>
          <a:prstGeom prst="rect">
            <a:avLst/>
          </a:prstGeom>
          <a:noFill/>
        </p:spPr>
        <p:txBody>
          <a:bodyPr wrap="square" lIns="0" tIns="0" rIns="0" bIns="0">
            <a:noAutofit/>
          </a:bodyPr>
          <a:lstStyle/>
          <a:p>
            <a:pPr algn="l">
              <a:lnSpc>
                <a:spcPct val="112000"/>
              </a:lnSpc>
              <a:spcAft>
                <a:spcPts val="500"/>
              </a:spcAft>
            </a:pPr>
            <a:r>
              <a:rPr lang="vi-VN" sz="2500" b="1">
                <a:solidFill>
                  <a:srgbClr val="24332F"/>
                </a:solidFill>
                <a:latin typeface="Times New Roman"/>
                <a:ea typeface="Times New Roman"/>
                <a:cs typeface="Times New Roman"/>
              </a:rPr>
              <a:t>Mã hoá nội dung bằng AES-GCM</a:t>
            </a:r>
          </a:p>
        </p:txBody>
      </p:sp>
      <p:sp>
        <p:nvSpPr>
          <p:cNvPr id="6" name="Element 6"/>
          <p:cNvSpPr txBox="1"/>
          <p:nvPr/>
        </p:nvSpPr>
        <p:spPr>
          <a:xfrm>
            <a:off x="762000" y="2019300"/>
            <a:ext cx="10620375" cy="628650"/>
          </a:xfrm>
          <a:prstGeom prst="rect">
            <a:avLst/>
          </a:prstGeom>
          <a:noFill/>
        </p:spPr>
        <p:txBody>
          <a:bodyPr wrap="square" lIns="0" tIns="0" rIns="0" bIns="0">
            <a:noAutofit/>
          </a:bodyPr>
          <a:lstStyle/>
          <a:p>
            <a:pPr algn="l">
              <a:lnSpc>
                <a:spcPct val="112000"/>
              </a:lnSpc>
              <a:spcAft>
                <a:spcPts val="500"/>
              </a:spcAft>
            </a:pPr>
            <a:r>
              <a:rPr lang="vi-VN" sz="1800" b="0">
                <a:solidFill>
                  <a:srgbClr val="667269"/>
                </a:solidFill>
                <a:latin typeface="Times New Roman"/>
                <a:ea typeface="Times New Roman"/>
                <a:cs typeface="Times New Roman"/>
              </a:rPr>
              <a:t>Bài toán: gửi tệp bí mật và phát hiện dữ liệu bị sửa.</a:t>
            </a:r>
          </a:p>
        </p:txBody>
      </p:sp>
      <p:sp>
        <p:nvSpPr>
          <p:cNvPr id="7" name="Element 7"/>
          <p:cNvSpPr/>
          <p:nvPr/>
        </p:nvSpPr>
        <p:spPr>
          <a:xfrm>
            <a:off x="4171950" y="2867025"/>
            <a:ext cx="3638550" cy="2266950"/>
          </a:xfrm>
          <a:prstGeom prst="rect">
            <a:avLst/>
          </a:prstGeom>
          <a:solidFill>
            <a:srgbClr val="182D28"/>
          </a:solidFill>
          <a:ln>
            <a:noFill/>
          </a:ln>
        </p:spPr>
      </p:sp>
      <p:sp>
        <p:nvSpPr>
          <p:cNvPr id="8" name="Element 8"/>
          <p:cNvSpPr txBox="1"/>
          <p:nvPr/>
        </p:nvSpPr>
        <p:spPr>
          <a:xfrm>
            <a:off x="762000" y="3190875"/>
            <a:ext cx="2714625" cy="619125"/>
          </a:xfrm>
          <a:prstGeom prst="rect">
            <a:avLst/>
          </a:prstGeom>
          <a:noFill/>
        </p:spPr>
        <p:txBody>
          <a:bodyPr wrap="square" lIns="0" tIns="0" rIns="0" bIns="0">
            <a:noAutofit/>
          </a:bodyPr>
          <a:lstStyle/>
          <a:p>
            <a:pPr algn="l">
              <a:lnSpc>
                <a:spcPct val="112000"/>
              </a:lnSpc>
              <a:spcAft>
                <a:spcPts val="500"/>
              </a:spcAft>
            </a:pPr>
            <a:r>
              <a:rPr lang="vi-VN" sz="2000" b="1" dirty="0">
                <a:solidFill>
                  <a:srgbClr val="A9472E"/>
                </a:solidFill>
                <a:latin typeface="Times New Roman"/>
                <a:ea typeface="Times New Roman"/>
                <a:cs typeface="Times New Roman"/>
              </a:rPr>
              <a:t>TỆP GỐC</a:t>
            </a:r>
          </a:p>
        </p:txBody>
      </p:sp>
      <p:sp>
        <p:nvSpPr>
          <p:cNvPr id="9" name="Element 9"/>
          <p:cNvSpPr txBox="1"/>
          <p:nvPr/>
        </p:nvSpPr>
        <p:spPr>
          <a:xfrm>
            <a:off x="762000" y="4019550"/>
            <a:ext cx="2714625" cy="952500"/>
          </a:xfrm>
          <a:prstGeom prst="rect">
            <a:avLst/>
          </a:prstGeom>
          <a:noFill/>
        </p:spPr>
        <p:txBody>
          <a:bodyPr wrap="square" lIns="0" tIns="0" rIns="0" bIns="0">
            <a:noAutofit/>
          </a:bodyPr>
          <a:lstStyle/>
          <a:p>
            <a:pPr algn="l">
              <a:lnSpc>
                <a:spcPct val="112000"/>
              </a:lnSpc>
              <a:spcAft>
                <a:spcPts val="500"/>
              </a:spcAft>
            </a:pPr>
            <a:r>
              <a:rPr lang="vi-VN" sz="1800" b="0">
                <a:solidFill>
                  <a:srgbClr val="24332F"/>
                </a:solidFill>
                <a:latin typeface="Times New Roman"/>
                <a:ea typeface="Times New Roman"/>
                <a:cs typeface="Times New Roman"/>
              </a:rPr>
              <a:t>Văn bản, ảnh, tài liệu</a:t>
            </a:r>
          </a:p>
        </p:txBody>
      </p:sp>
      <p:sp>
        <p:nvSpPr>
          <p:cNvPr id="10" name="Element 10"/>
          <p:cNvSpPr txBox="1"/>
          <p:nvPr/>
        </p:nvSpPr>
        <p:spPr>
          <a:xfrm>
            <a:off x="4429125" y="3190875"/>
            <a:ext cx="3095625" cy="619125"/>
          </a:xfrm>
          <a:prstGeom prst="rect">
            <a:avLst/>
          </a:prstGeom>
          <a:noFill/>
        </p:spPr>
        <p:txBody>
          <a:bodyPr wrap="square" lIns="0" tIns="0" rIns="0" bIns="0">
            <a:noAutofit/>
          </a:bodyPr>
          <a:lstStyle/>
          <a:p>
            <a:pPr algn="l">
              <a:lnSpc>
                <a:spcPct val="112000"/>
              </a:lnSpc>
              <a:spcAft>
                <a:spcPts val="500"/>
              </a:spcAft>
            </a:pPr>
            <a:r>
              <a:rPr lang="vi-VN" sz="2000" b="1">
                <a:solidFill>
                  <a:srgbClr val="D6B67D"/>
                </a:solidFill>
                <a:latin typeface="Times New Roman"/>
                <a:ea typeface="Times New Roman"/>
                <a:cs typeface="Times New Roman"/>
              </a:rPr>
              <a:t>AES-256-GCM</a:t>
            </a:r>
          </a:p>
        </p:txBody>
      </p:sp>
      <p:sp>
        <p:nvSpPr>
          <p:cNvPr id="11" name="Element 11"/>
          <p:cNvSpPr txBox="1"/>
          <p:nvPr/>
        </p:nvSpPr>
        <p:spPr>
          <a:xfrm>
            <a:off x="4429125" y="4019550"/>
            <a:ext cx="3095625" cy="952500"/>
          </a:xfrm>
          <a:prstGeom prst="rect">
            <a:avLst/>
          </a:prstGeom>
          <a:noFill/>
        </p:spPr>
        <p:txBody>
          <a:bodyPr wrap="square" lIns="0" tIns="0" rIns="0" bIns="0">
            <a:noAutofit/>
          </a:bodyPr>
          <a:lstStyle/>
          <a:p>
            <a:pPr algn="l">
              <a:lnSpc>
                <a:spcPct val="112000"/>
              </a:lnSpc>
              <a:spcAft>
                <a:spcPts val="500"/>
              </a:spcAft>
            </a:pPr>
            <a:r>
              <a:rPr lang="vi-VN" sz="1800" b="0">
                <a:solidFill>
                  <a:srgbClr val="F4EFE5"/>
                </a:solidFill>
                <a:latin typeface="Times New Roman"/>
                <a:ea typeface="Times New Roman"/>
                <a:cs typeface="Times New Roman"/>
              </a:rPr>
              <a:t>Khoá AES mới + IV mới</a:t>
            </a:r>
          </a:p>
        </p:txBody>
      </p:sp>
      <p:sp>
        <p:nvSpPr>
          <p:cNvPr id="12" name="Element 12"/>
          <p:cNvSpPr txBox="1"/>
          <p:nvPr/>
        </p:nvSpPr>
        <p:spPr>
          <a:xfrm>
            <a:off x="8667750" y="3190875"/>
            <a:ext cx="2762250" cy="619125"/>
          </a:xfrm>
          <a:prstGeom prst="rect">
            <a:avLst/>
          </a:prstGeom>
          <a:noFill/>
        </p:spPr>
        <p:txBody>
          <a:bodyPr wrap="square" lIns="0" tIns="0" rIns="0" bIns="0">
            <a:noAutofit/>
          </a:bodyPr>
          <a:lstStyle/>
          <a:p>
            <a:pPr algn="l">
              <a:lnSpc>
                <a:spcPct val="112000"/>
              </a:lnSpc>
              <a:spcAft>
                <a:spcPts val="500"/>
              </a:spcAft>
            </a:pPr>
            <a:r>
              <a:rPr lang="vi-VN" sz="2000" b="1">
                <a:solidFill>
                  <a:srgbClr val="A9472E"/>
                </a:solidFill>
                <a:latin typeface="Times New Roman"/>
                <a:ea typeface="Times New Roman"/>
                <a:cs typeface="Times New Roman"/>
              </a:rPr>
              <a:t>KẾT QUẢ</a:t>
            </a:r>
          </a:p>
        </p:txBody>
      </p:sp>
      <p:sp>
        <p:nvSpPr>
          <p:cNvPr id="13" name="Element 13"/>
          <p:cNvSpPr txBox="1"/>
          <p:nvPr/>
        </p:nvSpPr>
        <p:spPr>
          <a:xfrm>
            <a:off x="8667750" y="4019550"/>
            <a:ext cx="2762250" cy="952500"/>
          </a:xfrm>
          <a:prstGeom prst="rect">
            <a:avLst/>
          </a:prstGeom>
          <a:noFill/>
        </p:spPr>
        <p:txBody>
          <a:bodyPr wrap="square" lIns="0" tIns="0" rIns="0" bIns="0">
            <a:noAutofit/>
          </a:bodyPr>
          <a:lstStyle/>
          <a:p>
            <a:pPr algn="l">
              <a:lnSpc>
                <a:spcPct val="112000"/>
              </a:lnSpc>
              <a:spcAft>
                <a:spcPts val="500"/>
              </a:spcAft>
            </a:pPr>
            <a:r>
              <a:rPr lang="vi-VN" sz="1800" b="0">
                <a:solidFill>
                  <a:srgbClr val="24332F"/>
                </a:solidFill>
                <a:latin typeface="Times New Roman"/>
                <a:ea typeface="Times New Roman"/>
                <a:cs typeface="Times New Roman"/>
              </a:rPr>
              <a:t>Bản mã + tag xác thực</a:t>
            </a:r>
          </a:p>
        </p:txBody>
      </p:sp>
      <p:sp>
        <p:nvSpPr>
          <p:cNvPr id="14" name="Element 14"/>
          <p:cNvSpPr txBox="1"/>
          <p:nvPr/>
        </p:nvSpPr>
        <p:spPr>
          <a:xfrm>
            <a:off x="3457575" y="3705225"/>
            <a:ext cx="571500" cy="609600"/>
          </a:xfrm>
          <a:prstGeom prst="rect">
            <a:avLst/>
          </a:prstGeom>
          <a:noFill/>
        </p:spPr>
        <p:txBody>
          <a:bodyPr wrap="square" lIns="0" tIns="0" rIns="0" bIns="0">
            <a:noAutofit/>
          </a:bodyPr>
          <a:lstStyle/>
          <a:p>
            <a:pPr algn="ctr">
              <a:lnSpc>
                <a:spcPct val="112000"/>
              </a:lnSpc>
              <a:spcAft>
                <a:spcPts val="500"/>
              </a:spcAft>
            </a:pPr>
            <a:r>
              <a:rPr lang="vi-VN" sz="3000" b="1">
                <a:solidFill>
                  <a:srgbClr val="A9472E"/>
                </a:solidFill>
                <a:latin typeface="Times New Roman"/>
                <a:ea typeface="Times New Roman"/>
                <a:cs typeface="Times New Roman"/>
              </a:rPr>
              <a:t>→</a:t>
            </a:r>
          </a:p>
        </p:txBody>
      </p:sp>
      <p:sp>
        <p:nvSpPr>
          <p:cNvPr id="15" name="Element 15"/>
          <p:cNvSpPr txBox="1"/>
          <p:nvPr/>
        </p:nvSpPr>
        <p:spPr>
          <a:xfrm>
            <a:off x="7953375" y="3705225"/>
            <a:ext cx="571500" cy="609600"/>
          </a:xfrm>
          <a:prstGeom prst="rect">
            <a:avLst/>
          </a:prstGeom>
          <a:noFill/>
        </p:spPr>
        <p:txBody>
          <a:bodyPr wrap="square" lIns="0" tIns="0" rIns="0" bIns="0">
            <a:noAutofit/>
          </a:bodyPr>
          <a:lstStyle/>
          <a:p>
            <a:pPr algn="ctr">
              <a:lnSpc>
                <a:spcPct val="112000"/>
              </a:lnSpc>
              <a:spcAft>
                <a:spcPts val="500"/>
              </a:spcAft>
            </a:pPr>
            <a:r>
              <a:rPr lang="vi-VN" sz="3000" b="1">
                <a:solidFill>
                  <a:srgbClr val="A9472E"/>
                </a:solidFill>
                <a:latin typeface="Times New Roman"/>
                <a:ea typeface="Times New Roman"/>
                <a:cs typeface="Times New Roman"/>
              </a:rPr>
              <a:t>→</a:t>
            </a:r>
          </a:p>
        </p:txBody>
      </p:sp>
      <p:sp>
        <p:nvSpPr>
          <p:cNvPr id="16" name="Element 16"/>
          <p:cNvSpPr/>
          <p:nvPr/>
        </p:nvSpPr>
        <p:spPr>
          <a:xfrm>
            <a:off x="762000" y="5791200"/>
            <a:ext cx="47625" cy="571500"/>
          </a:xfrm>
          <a:prstGeom prst="rect">
            <a:avLst/>
          </a:prstGeom>
          <a:solidFill>
            <a:srgbClr val="A9472E"/>
          </a:solidFill>
          <a:ln>
            <a:noFill/>
          </a:ln>
        </p:spPr>
      </p:sp>
      <p:sp>
        <p:nvSpPr>
          <p:cNvPr id="17" name="Element 17"/>
          <p:cNvSpPr txBox="1"/>
          <p:nvPr/>
        </p:nvSpPr>
        <p:spPr>
          <a:xfrm>
            <a:off x="990600" y="5829300"/>
            <a:ext cx="10382250" cy="647700"/>
          </a:xfrm>
          <a:prstGeom prst="rect">
            <a:avLst/>
          </a:prstGeom>
          <a:noFill/>
        </p:spPr>
        <p:txBody>
          <a:bodyPr wrap="square" lIns="0" tIns="0" rIns="0" bIns="0">
            <a:noAutofit/>
          </a:bodyPr>
          <a:lstStyle/>
          <a:p>
            <a:pPr algn="l">
              <a:lnSpc>
                <a:spcPct val="112000"/>
              </a:lnSpc>
              <a:spcAft>
                <a:spcPts val="500"/>
              </a:spcAft>
            </a:pPr>
            <a:r>
              <a:rPr lang="vi-VN" sz="1800" b="0">
                <a:solidFill>
                  <a:srgbClr val="24332F"/>
                </a:solidFill>
                <a:latin typeface="Times New Roman"/>
                <a:ea typeface="Times New Roman"/>
                <a:cs typeface="Times New Roman"/>
              </a:rPr>
              <a:t>AES: 32 byte khoá  ·  IV: 12 byte  ·  Tag: 16 byte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ement 2"/>
          <p:cNvSpPr/>
          <p:nvPr/>
        </p:nvSpPr>
        <p:spPr>
          <a:xfrm>
            <a:off x="0" y="0"/>
            <a:ext cx="12192000" cy="6858000"/>
          </a:xfrm>
          <a:prstGeom prst="rect">
            <a:avLst/>
          </a:prstGeom>
          <a:solidFill>
            <a:srgbClr val="F4EFE5"/>
          </a:solidFill>
          <a:ln>
            <a:noFill/>
          </a:ln>
        </p:spPr>
      </p:sp>
      <p:sp>
        <p:nvSpPr>
          <p:cNvPr id="3" name="Element 3"/>
          <p:cNvSpPr/>
          <p:nvPr/>
        </p:nvSpPr>
        <p:spPr>
          <a:xfrm>
            <a:off x="457200" y="495300"/>
            <a:ext cx="66675" cy="800100"/>
          </a:xfrm>
          <a:prstGeom prst="rect">
            <a:avLst/>
          </a:prstGeom>
          <a:solidFill>
            <a:srgbClr val="A9472E"/>
          </a:solidFill>
          <a:ln>
            <a:noFill/>
          </a:ln>
        </p:spPr>
      </p:sp>
      <p:sp>
        <p:nvSpPr>
          <p:cNvPr id="4" name="Element 4"/>
          <p:cNvSpPr txBox="1"/>
          <p:nvPr/>
        </p:nvSpPr>
        <p:spPr>
          <a:xfrm>
            <a:off x="762000" y="495300"/>
            <a:ext cx="10477500" cy="323850"/>
          </a:xfrm>
          <a:prstGeom prst="rect">
            <a:avLst/>
          </a:prstGeom>
          <a:noFill/>
        </p:spPr>
        <p:txBody>
          <a:bodyPr wrap="square" lIns="0" tIns="0" rIns="0" bIns="0">
            <a:noAutofit/>
          </a:bodyPr>
          <a:lstStyle/>
          <a:p>
            <a:pPr algn="l">
              <a:lnSpc>
                <a:spcPct val="112000"/>
              </a:lnSpc>
              <a:spcAft>
                <a:spcPts val="500"/>
              </a:spcAft>
            </a:pPr>
            <a:r>
              <a:rPr lang="vi-VN" sz="2000" b="1" dirty="0">
                <a:solidFill>
                  <a:srgbClr val="A9472E"/>
                </a:solidFill>
                <a:latin typeface="Times New Roman"/>
                <a:ea typeface="Times New Roman"/>
                <a:cs typeface="Times New Roman"/>
              </a:rPr>
              <a:t>01 / AES-GCM </a:t>
            </a:r>
          </a:p>
        </p:txBody>
      </p:sp>
      <p:sp>
        <p:nvSpPr>
          <p:cNvPr id="5" name="Element 5"/>
          <p:cNvSpPr txBox="1"/>
          <p:nvPr/>
        </p:nvSpPr>
        <p:spPr>
          <a:xfrm>
            <a:off x="742950" y="1000125"/>
            <a:ext cx="10620375" cy="990600"/>
          </a:xfrm>
          <a:prstGeom prst="rect">
            <a:avLst/>
          </a:prstGeom>
          <a:noFill/>
        </p:spPr>
        <p:txBody>
          <a:bodyPr wrap="square" lIns="0" tIns="0" rIns="0" bIns="0">
            <a:noAutofit/>
          </a:bodyPr>
          <a:lstStyle/>
          <a:p>
            <a:pPr algn="l">
              <a:lnSpc>
                <a:spcPct val="112000"/>
              </a:lnSpc>
              <a:spcAft>
                <a:spcPts val="500"/>
              </a:spcAft>
            </a:pPr>
            <a:r>
              <a:rPr lang="vi-VN" sz="2500" b="1">
                <a:solidFill>
                  <a:srgbClr val="24332F"/>
                </a:solidFill>
                <a:latin typeface="Times New Roman"/>
                <a:ea typeface="Times New Roman"/>
                <a:cs typeface="Times New Roman"/>
              </a:rPr>
              <a:t>GCM kiểm tra toàn vẹn trước khi trả tệp</a:t>
            </a:r>
          </a:p>
        </p:txBody>
      </p:sp>
      <p:sp>
        <p:nvSpPr>
          <p:cNvPr id="6" name="Element 6"/>
          <p:cNvSpPr txBox="1"/>
          <p:nvPr/>
        </p:nvSpPr>
        <p:spPr>
          <a:xfrm>
            <a:off x="762000" y="2019300"/>
            <a:ext cx="10620375" cy="628650"/>
          </a:xfrm>
          <a:prstGeom prst="rect">
            <a:avLst/>
          </a:prstGeom>
          <a:noFill/>
        </p:spPr>
        <p:txBody>
          <a:bodyPr wrap="square" lIns="0" tIns="0" rIns="0" bIns="0">
            <a:noAutofit/>
          </a:bodyPr>
          <a:lstStyle/>
          <a:p>
            <a:pPr algn="l">
              <a:lnSpc>
                <a:spcPct val="112000"/>
              </a:lnSpc>
              <a:spcAft>
                <a:spcPts val="500"/>
              </a:spcAft>
            </a:pPr>
            <a:r>
              <a:rPr lang="vi-VN" sz="1800" b="0">
                <a:solidFill>
                  <a:srgbClr val="667269"/>
                </a:solidFill>
                <a:latin typeface="Times New Roman"/>
                <a:ea typeface="Times New Roman"/>
                <a:cs typeface="Times New Roman"/>
              </a:rPr>
              <a:t>AEAD: bảo mật nội dung, đồng thời xác thực bản mã và AAD.</a:t>
            </a:r>
          </a:p>
        </p:txBody>
      </p:sp>
      <p:sp>
        <p:nvSpPr>
          <p:cNvPr id="7" name="Element 7"/>
          <p:cNvSpPr/>
          <p:nvPr/>
        </p:nvSpPr>
        <p:spPr>
          <a:xfrm>
            <a:off x="762000" y="2952750"/>
            <a:ext cx="4762500" cy="9525"/>
          </a:xfrm>
          <a:prstGeom prst="rect">
            <a:avLst/>
          </a:prstGeom>
          <a:solidFill>
            <a:srgbClr val="A9472E"/>
          </a:solidFill>
          <a:ln>
            <a:noFill/>
          </a:ln>
        </p:spPr>
      </p:sp>
      <p:sp>
        <p:nvSpPr>
          <p:cNvPr id="8" name="Element 8"/>
          <p:cNvSpPr txBox="1"/>
          <p:nvPr/>
        </p:nvSpPr>
        <p:spPr>
          <a:xfrm>
            <a:off x="762000" y="3143250"/>
            <a:ext cx="4762500" cy="619125"/>
          </a:xfrm>
          <a:prstGeom prst="rect">
            <a:avLst/>
          </a:prstGeom>
          <a:noFill/>
        </p:spPr>
        <p:txBody>
          <a:bodyPr wrap="square" lIns="0" tIns="0" rIns="0" bIns="0">
            <a:noAutofit/>
          </a:bodyPr>
          <a:lstStyle/>
          <a:p>
            <a:pPr algn="l">
              <a:lnSpc>
                <a:spcPct val="112000"/>
              </a:lnSpc>
              <a:spcAft>
                <a:spcPts val="500"/>
              </a:spcAft>
            </a:pPr>
            <a:r>
              <a:rPr lang="vi-VN" sz="2000" b="1">
                <a:solidFill>
                  <a:srgbClr val="A9472E"/>
                </a:solidFill>
                <a:latin typeface="Times New Roman"/>
                <a:ea typeface="Times New Roman"/>
                <a:cs typeface="Times New Roman"/>
              </a:rPr>
              <a:t>NỘI DUNG TỆP</a:t>
            </a:r>
          </a:p>
        </p:txBody>
      </p:sp>
      <p:sp>
        <p:nvSpPr>
          <p:cNvPr id="9" name="Element 9"/>
          <p:cNvSpPr txBox="1"/>
          <p:nvPr/>
        </p:nvSpPr>
        <p:spPr>
          <a:xfrm>
            <a:off x="762000" y="3962400"/>
            <a:ext cx="4762500" cy="1285875"/>
          </a:xfrm>
          <a:prstGeom prst="rect">
            <a:avLst/>
          </a:prstGeom>
          <a:noFill/>
        </p:spPr>
        <p:txBody>
          <a:bodyPr wrap="square" lIns="0" tIns="0" rIns="0" bIns="0">
            <a:noAutofit/>
          </a:bodyPr>
          <a:lstStyle/>
          <a:p>
            <a:pPr algn="l">
              <a:lnSpc>
                <a:spcPct val="112000"/>
              </a:lnSpc>
              <a:spcAft>
                <a:spcPts val="500"/>
              </a:spcAft>
            </a:pPr>
            <a:r>
              <a:rPr lang="vi-VN" sz="1800" b="0">
                <a:solidFill>
                  <a:srgbClr val="24332F"/>
                </a:solidFill>
                <a:latin typeface="Times New Roman"/>
                <a:ea typeface="Times New Roman"/>
                <a:cs typeface="Times New Roman"/>
              </a:rPr>
              <a:t>Được mã hoá thành bản mã.</a:t>
            </a:r>
          </a:p>
          <a:p>
            <a:pPr algn="l">
              <a:lnSpc>
                <a:spcPct val="112000"/>
              </a:lnSpc>
              <a:spcAft>
                <a:spcPts val="500"/>
              </a:spcAft>
            </a:pPr>
            <a:r>
              <a:rPr lang="vi-VN" sz="1800" b="0">
                <a:solidFill>
                  <a:srgbClr val="24332F"/>
                </a:solidFill>
                <a:latin typeface="Times New Roman"/>
                <a:ea typeface="Times New Roman"/>
                <a:cs typeface="Times New Roman"/>
              </a:rPr>
              <a:t>Tag sai → từ chối bản rõ.</a:t>
            </a:r>
          </a:p>
        </p:txBody>
      </p:sp>
      <p:sp>
        <p:nvSpPr>
          <p:cNvPr id="10" name="Element 10"/>
          <p:cNvSpPr/>
          <p:nvPr/>
        </p:nvSpPr>
        <p:spPr>
          <a:xfrm>
            <a:off x="6524625" y="2952750"/>
            <a:ext cx="4762500" cy="9525"/>
          </a:xfrm>
          <a:prstGeom prst="rect">
            <a:avLst/>
          </a:prstGeom>
          <a:solidFill>
            <a:srgbClr val="A9472E"/>
          </a:solidFill>
          <a:ln>
            <a:noFill/>
          </a:ln>
        </p:spPr>
      </p:sp>
      <p:sp>
        <p:nvSpPr>
          <p:cNvPr id="11" name="Element 11"/>
          <p:cNvSpPr txBox="1"/>
          <p:nvPr/>
        </p:nvSpPr>
        <p:spPr>
          <a:xfrm>
            <a:off x="6524625" y="3143250"/>
            <a:ext cx="4762500" cy="619125"/>
          </a:xfrm>
          <a:prstGeom prst="rect">
            <a:avLst/>
          </a:prstGeom>
          <a:noFill/>
        </p:spPr>
        <p:txBody>
          <a:bodyPr wrap="square" lIns="0" tIns="0" rIns="0" bIns="0">
            <a:noAutofit/>
          </a:bodyPr>
          <a:lstStyle/>
          <a:p>
            <a:pPr algn="l">
              <a:lnSpc>
                <a:spcPct val="112000"/>
              </a:lnSpc>
              <a:spcAft>
                <a:spcPts val="500"/>
              </a:spcAft>
            </a:pPr>
            <a:r>
              <a:rPr lang="vi-VN" sz="2000" b="1">
                <a:solidFill>
                  <a:srgbClr val="A9472E"/>
                </a:solidFill>
                <a:latin typeface="Times New Roman"/>
                <a:ea typeface="Times New Roman"/>
                <a:cs typeface="Times New Roman"/>
              </a:rPr>
              <a:t>HEADER → AAD</a:t>
            </a:r>
          </a:p>
        </p:txBody>
      </p:sp>
      <p:sp>
        <p:nvSpPr>
          <p:cNvPr id="12" name="Element 12"/>
          <p:cNvSpPr txBox="1"/>
          <p:nvPr/>
        </p:nvSpPr>
        <p:spPr>
          <a:xfrm>
            <a:off x="6524625" y="3962400"/>
            <a:ext cx="4762500" cy="1285875"/>
          </a:xfrm>
          <a:prstGeom prst="rect">
            <a:avLst/>
          </a:prstGeom>
          <a:noFill/>
        </p:spPr>
        <p:txBody>
          <a:bodyPr wrap="square" lIns="0" tIns="0" rIns="0" bIns="0">
            <a:noAutofit/>
          </a:bodyPr>
          <a:lstStyle/>
          <a:p>
            <a:pPr algn="l">
              <a:lnSpc>
                <a:spcPct val="112000"/>
              </a:lnSpc>
              <a:spcAft>
                <a:spcPts val="500"/>
              </a:spcAft>
            </a:pPr>
            <a:r>
              <a:rPr lang="vi-VN" sz="1800" b="0">
                <a:solidFill>
                  <a:srgbClr val="24332F"/>
                </a:solidFill>
                <a:latin typeface="Times New Roman"/>
                <a:ea typeface="Times New Roman"/>
                <a:cs typeface="Times New Roman"/>
              </a:rPr>
              <a:t>Tên tệp vẫn nhìn thấy.</a:t>
            </a:r>
          </a:p>
          <a:p>
            <a:pPr algn="l">
              <a:lnSpc>
                <a:spcPct val="112000"/>
              </a:lnSpc>
              <a:spcAft>
                <a:spcPts val="500"/>
              </a:spcAft>
            </a:pPr>
            <a:r>
              <a:rPr lang="vi-VN" sz="1800" b="0">
                <a:solidFill>
                  <a:srgbClr val="24332F"/>
                </a:solidFill>
                <a:latin typeface="Times New Roman"/>
                <a:ea typeface="Times New Roman"/>
                <a:cs typeface="Times New Roman"/>
              </a:rPr>
              <a:t>Sửa header → kiểm tra thất bại.</a:t>
            </a:r>
          </a:p>
        </p:txBody>
      </p:sp>
      <p:sp>
        <p:nvSpPr>
          <p:cNvPr id="13" name="Element 13"/>
          <p:cNvSpPr/>
          <p:nvPr/>
        </p:nvSpPr>
        <p:spPr>
          <a:xfrm>
            <a:off x="5962650" y="2924175"/>
            <a:ext cx="9525" cy="2286000"/>
          </a:xfrm>
          <a:prstGeom prst="rect">
            <a:avLst/>
          </a:prstGeom>
          <a:solidFill>
            <a:srgbClr val="D5CDBE"/>
          </a:solidFill>
          <a:ln>
            <a:noFill/>
          </a:ln>
        </p:spPr>
      </p:sp>
      <p:sp>
        <p:nvSpPr>
          <p:cNvPr id="14" name="Element 14"/>
          <p:cNvSpPr/>
          <p:nvPr/>
        </p:nvSpPr>
        <p:spPr>
          <a:xfrm>
            <a:off x="762000" y="5791200"/>
            <a:ext cx="47625" cy="571500"/>
          </a:xfrm>
          <a:prstGeom prst="rect">
            <a:avLst/>
          </a:prstGeom>
          <a:solidFill>
            <a:srgbClr val="A9472E"/>
          </a:solidFill>
          <a:ln>
            <a:noFill/>
          </a:ln>
        </p:spPr>
      </p:sp>
      <p:sp>
        <p:nvSpPr>
          <p:cNvPr id="15" name="Element 15"/>
          <p:cNvSpPr txBox="1"/>
          <p:nvPr/>
        </p:nvSpPr>
        <p:spPr>
          <a:xfrm>
            <a:off x="990600" y="5829300"/>
            <a:ext cx="10382250" cy="647700"/>
          </a:xfrm>
          <a:prstGeom prst="rect">
            <a:avLst/>
          </a:prstGeom>
          <a:noFill/>
        </p:spPr>
        <p:txBody>
          <a:bodyPr wrap="square" lIns="0" tIns="0" rIns="0" bIns="0">
            <a:noAutofit/>
          </a:bodyPr>
          <a:lstStyle/>
          <a:p>
            <a:pPr algn="l">
              <a:lnSpc>
                <a:spcPct val="112000"/>
              </a:lnSpc>
              <a:spcAft>
                <a:spcPts val="500"/>
              </a:spcAft>
            </a:pPr>
            <a:r>
              <a:rPr lang="vi-VN" sz="1800" b="0">
                <a:solidFill>
                  <a:srgbClr val="24332F"/>
                </a:solidFill>
                <a:latin typeface="Times New Roman"/>
                <a:ea typeface="Times New Roman"/>
                <a:cs typeface="Times New Roman"/>
              </a:rPr>
              <a:t>Câu hỏi tiếp theo: chuyển khoá AES cho Bob thế nào?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ement 2"/>
          <p:cNvSpPr/>
          <p:nvPr/>
        </p:nvSpPr>
        <p:spPr>
          <a:xfrm>
            <a:off x="0" y="276225"/>
            <a:ext cx="12192000" cy="6858000"/>
          </a:xfrm>
          <a:prstGeom prst="rect">
            <a:avLst/>
          </a:prstGeom>
          <a:solidFill>
            <a:srgbClr val="F4EFE5"/>
          </a:solidFill>
          <a:ln>
            <a:noFill/>
          </a:ln>
        </p:spPr>
      </p:sp>
      <p:sp>
        <p:nvSpPr>
          <p:cNvPr id="3" name="Element 3"/>
          <p:cNvSpPr/>
          <p:nvPr/>
        </p:nvSpPr>
        <p:spPr>
          <a:xfrm>
            <a:off x="457200" y="495300"/>
            <a:ext cx="66675" cy="800100"/>
          </a:xfrm>
          <a:prstGeom prst="rect">
            <a:avLst/>
          </a:prstGeom>
          <a:solidFill>
            <a:srgbClr val="A9472E"/>
          </a:solidFill>
          <a:ln>
            <a:noFill/>
          </a:ln>
        </p:spPr>
      </p:sp>
      <p:sp>
        <p:nvSpPr>
          <p:cNvPr id="4" name="Element 4"/>
          <p:cNvSpPr txBox="1"/>
          <p:nvPr/>
        </p:nvSpPr>
        <p:spPr>
          <a:xfrm>
            <a:off x="762000" y="495300"/>
            <a:ext cx="10477500" cy="323850"/>
          </a:xfrm>
          <a:prstGeom prst="rect">
            <a:avLst/>
          </a:prstGeom>
          <a:noFill/>
        </p:spPr>
        <p:txBody>
          <a:bodyPr wrap="square" lIns="0" tIns="0" rIns="0" bIns="0">
            <a:noAutofit/>
          </a:bodyPr>
          <a:lstStyle/>
          <a:p>
            <a:pPr algn="l">
              <a:lnSpc>
                <a:spcPct val="112000"/>
              </a:lnSpc>
              <a:spcAft>
                <a:spcPts val="500"/>
              </a:spcAft>
            </a:pPr>
            <a:r>
              <a:rPr lang="vi-VN" sz="2000" b="1" dirty="0">
                <a:solidFill>
                  <a:srgbClr val="A9472E"/>
                </a:solidFill>
                <a:latin typeface="Times New Roman"/>
                <a:ea typeface="Times New Roman"/>
                <a:cs typeface="Times New Roman"/>
              </a:rPr>
              <a:t>02 / RSA-OAEP </a:t>
            </a:r>
          </a:p>
        </p:txBody>
      </p:sp>
      <p:sp>
        <p:nvSpPr>
          <p:cNvPr id="5" name="Element 5"/>
          <p:cNvSpPr txBox="1"/>
          <p:nvPr/>
        </p:nvSpPr>
        <p:spPr>
          <a:xfrm>
            <a:off x="742950" y="1000125"/>
            <a:ext cx="10620375" cy="990600"/>
          </a:xfrm>
          <a:prstGeom prst="rect">
            <a:avLst/>
          </a:prstGeom>
          <a:noFill/>
        </p:spPr>
        <p:txBody>
          <a:bodyPr wrap="square" lIns="0" tIns="0" rIns="0" bIns="0">
            <a:noAutofit/>
          </a:bodyPr>
          <a:lstStyle/>
          <a:p>
            <a:pPr algn="l">
              <a:lnSpc>
                <a:spcPct val="112000"/>
              </a:lnSpc>
              <a:spcAft>
                <a:spcPts val="500"/>
              </a:spcAft>
            </a:pPr>
            <a:r>
              <a:rPr lang="vi-VN" sz="2500" b="1">
                <a:solidFill>
                  <a:srgbClr val="24332F"/>
                </a:solidFill>
                <a:latin typeface="Times New Roman"/>
                <a:ea typeface="Times New Roman"/>
                <a:cs typeface="Times New Roman"/>
              </a:rPr>
              <a:t>RSA chỉ bảo vệ khoá AES</a:t>
            </a:r>
          </a:p>
        </p:txBody>
      </p:sp>
      <p:sp>
        <p:nvSpPr>
          <p:cNvPr id="6" name="Element 6"/>
          <p:cNvSpPr txBox="1"/>
          <p:nvPr/>
        </p:nvSpPr>
        <p:spPr>
          <a:xfrm>
            <a:off x="762000" y="2019300"/>
            <a:ext cx="10620375" cy="628650"/>
          </a:xfrm>
          <a:prstGeom prst="rect">
            <a:avLst/>
          </a:prstGeom>
          <a:noFill/>
        </p:spPr>
        <p:txBody>
          <a:bodyPr wrap="square" lIns="0" tIns="0" rIns="0" bIns="0">
            <a:noAutofit/>
          </a:bodyPr>
          <a:lstStyle/>
          <a:p>
            <a:pPr algn="l">
              <a:lnSpc>
                <a:spcPct val="112000"/>
              </a:lnSpc>
              <a:spcAft>
                <a:spcPts val="500"/>
              </a:spcAft>
            </a:pPr>
            <a:r>
              <a:rPr lang="vi-VN" sz="1800" b="0">
                <a:solidFill>
                  <a:srgbClr val="667269"/>
                </a:solidFill>
                <a:latin typeface="Times New Roman"/>
                <a:ea typeface="Times New Roman"/>
                <a:cs typeface="Times New Roman"/>
              </a:rPr>
              <a:t>Không dùng RSA để mã hoá toàn bộ nội dung tệp.</a:t>
            </a:r>
          </a:p>
        </p:txBody>
      </p:sp>
      <p:sp>
        <p:nvSpPr>
          <p:cNvPr id="7" name="Element 7"/>
          <p:cNvSpPr/>
          <p:nvPr/>
        </p:nvSpPr>
        <p:spPr>
          <a:xfrm>
            <a:off x="4171950" y="2867025"/>
            <a:ext cx="3638550" cy="2266950"/>
          </a:xfrm>
          <a:prstGeom prst="rect">
            <a:avLst/>
          </a:prstGeom>
          <a:solidFill>
            <a:srgbClr val="182D28"/>
          </a:solidFill>
          <a:ln>
            <a:noFill/>
          </a:ln>
        </p:spPr>
      </p:sp>
      <p:sp>
        <p:nvSpPr>
          <p:cNvPr id="8" name="Element 8"/>
          <p:cNvSpPr txBox="1"/>
          <p:nvPr/>
        </p:nvSpPr>
        <p:spPr>
          <a:xfrm>
            <a:off x="762000" y="3190875"/>
            <a:ext cx="2714625" cy="619125"/>
          </a:xfrm>
          <a:prstGeom prst="rect">
            <a:avLst/>
          </a:prstGeom>
          <a:noFill/>
        </p:spPr>
        <p:txBody>
          <a:bodyPr wrap="square" lIns="0" tIns="0" rIns="0" bIns="0">
            <a:noAutofit/>
          </a:bodyPr>
          <a:lstStyle/>
          <a:p>
            <a:pPr algn="l">
              <a:lnSpc>
                <a:spcPct val="112000"/>
              </a:lnSpc>
              <a:spcAft>
                <a:spcPts val="500"/>
              </a:spcAft>
            </a:pPr>
            <a:r>
              <a:rPr lang="vi-VN" sz="2000" b="1">
                <a:solidFill>
                  <a:srgbClr val="A9472E"/>
                </a:solidFill>
                <a:latin typeface="Times New Roman"/>
                <a:ea typeface="Times New Roman"/>
                <a:cs typeface="Times New Roman"/>
              </a:rPr>
              <a:t>KHOÁ AES</a:t>
            </a:r>
          </a:p>
        </p:txBody>
      </p:sp>
      <p:sp>
        <p:nvSpPr>
          <p:cNvPr id="9" name="Element 9"/>
          <p:cNvSpPr txBox="1"/>
          <p:nvPr/>
        </p:nvSpPr>
        <p:spPr>
          <a:xfrm>
            <a:off x="762000" y="4019550"/>
            <a:ext cx="2714625" cy="952500"/>
          </a:xfrm>
          <a:prstGeom prst="rect">
            <a:avLst/>
          </a:prstGeom>
          <a:noFill/>
        </p:spPr>
        <p:txBody>
          <a:bodyPr wrap="square" lIns="0" tIns="0" rIns="0" bIns="0">
            <a:noAutofit/>
          </a:bodyPr>
          <a:lstStyle/>
          <a:p>
            <a:pPr algn="l">
              <a:lnSpc>
                <a:spcPct val="112000"/>
              </a:lnSpc>
              <a:spcAft>
                <a:spcPts val="500"/>
              </a:spcAft>
            </a:pPr>
            <a:r>
              <a:rPr lang="vi-VN" sz="1800" b="0">
                <a:solidFill>
                  <a:srgbClr val="24332F"/>
                </a:solidFill>
                <a:latin typeface="Times New Roman"/>
                <a:ea typeface="Times New Roman"/>
                <a:cs typeface="Times New Roman"/>
              </a:rPr>
              <a:t>32 byte ngẫu nhiên</a:t>
            </a:r>
          </a:p>
        </p:txBody>
      </p:sp>
      <p:sp>
        <p:nvSpPr>
          <p:cNvPr id="10" name="Element 10"/>
          <p:cNvSpPr txBox="1"/>
          <p:nvPr/>
        </p:nvSpPr>
        <p:spPr>
          <a:xfrm>
            <a:off x="4429125" y="3190875"/>
            <a:ext cx="3095625" cy="619125"/>
          </a:xfrm>
          <a:prstGeom prst="rect">
            <a:avLst/>
          </a:prstGeom>
          <a:noFill/>
        </p:spPr>
        <p:txBody>
          <a:bodyPr wrap="square" lIns="0" tIns="0" rIns="0" bIns="0">
            <a:noAutofit/>
          </a:bodyPr>
          <a:lstStyle/>
          <a:p>
            <a:pPr algn="l">
              <a:lnSpc>
                <a:spcPct val="112000"/>
              </a:lnSpc>
              <a:spcAft>
                <a:spcPts val="500"/>
              </a:spcAft>
            </a:pPr>
            <a:r>
              <a:rPr lang="vi-VN" sz="2000" b="1">
                <a:solidFill>
                  <a:srgbClr val="D6B67D"/>
                </a:solidFill>
                <a:latin typeface="Times New Roman"/>
                <a:ea typeface="Times New Roman"/>
                <a:cs typeface="Times New Roman"/>
              </a:rPr>
              <a:t>RSA-2048-OAEP</a:t>
            </a:r>
          </a:p>
        </p:txBody>
      </p:sp>
      <p:sp>
        <p:nvSpPr>
          <p:cNvPr id="11" name="Element 11"/>
          <p:cNvSpPr txBox="1"/>
          <p:nvPr/>
        </p:nvSpPr>
        <p:spPr>
          <a:xfrm>
            <a:off x="4429125" y="4019550"/>
            <a:ext cx="3095625" cy="952500"/>
          </a:xfrm>
          <a:prstGeom prst="rect">
            <a:avLst/>
          </a:prstGeom>
          <a:noFill/>
        </p:spPr>
        <p:txBody>
          <a:bodyPr wrap="square" lIns="0" tIns="0" rIns="0" bIns="0">
            <a:noAutofit/>
          </a:bodyPr>
          <a:lstStyle/>
          <a:p>
            <a:pPr algn="l">
              <a:lnSpc>
                <a:spcPct val="112000"/>
              </a:lnSpc>
              <a:spcAft>
                <a:spcPts val="500"/>
              </a:spcAft>
            </a:pPr>
            <a:r>
              <a:rPr lang="vi-VN" sz="1800" b="0">
                <a:solidFill>
                  <a:srgbClr val="F4EFE5"/>
                </a:solidFill>
                <a:latin typeface="Times New Roman"/>
                <a:ea typeface="Times New Roman"/>
                <a:cs typeface="Times New Roman"/>
              </a:rPr>
              <a:t>Public key của Bob</a:t>
            </a:r>
          </a:p>
        </p:txBody>
      </p:sp>
      <p:sp>
        <p:nvSpPr>
          <p:cNvPr id="12" name="Element 12"/>
          <p:cNvSpPr txBox="1"/>
          <p:nvPr/>
        </p:nvSpPr>
        <p:spPr>
          <a:xfrm>
            <a:off x="8667750" y="3190875"/>
            <a:ext cx="2762250" cy="619125"/>
          </a:xfrm>
          <a:prstGeom prst="rect">
            <a:avLst/>
          </a:prstGeom>
          <a:noFill/>
        </p:spPr>
        <p:txBody>
          <a:bodyPr wrap="square" lIns="0" tIns="0" rIns="0" bIns="0">
            <a:noAutofit/>
          </a:bodyPr>
          <a:lstStyle/>
          <a:p>
            <a:pPr algn="l">
              <a:lnSpc>
                <a:spcPct val="112000"/>
              </a:lnSpc>
              <a:spcAft>
                <a:spcPts val="500"/>
              </a:spcAft>
            </a:pPr>
            <a:r>
              <a:rPr lang="vi-VN" sz="2000" b="1">
                <a:solidFill>
                  <a:srgbClr val="A9472E"/>
                </a:solidFill>
                <a:latin typeface="Times New Roman"/>
                <a:ea typeface="Times New Roman"/>
                <a:cs typeface="Times New Roman"/>
              </a:rPr>
              <a:t>KHOÁ ĐÃ BỌC</a:t>
            </a:r>
          </a:p>
        </p:txBody>
      </p:sp>
      <p:sp>
        <p:nvSpPr>
          <p:cNvPr id="13" name="Element 13"/>
          <p:cNvSpPr txBox="1"/>
          <p:nvPr/>
        </p:nvSpPr>
        <p:spPr>
          <a:xfrm>
            <a:off x="8667750" y="4019550"/>
            <a:ext cx="2762250" cy="952500"/>
          </a:xfrm>
          <a:prstGeom prst="rect">
            <a:avLst/>
          </a:prstGeom>
          <a:noFill/>
        </p:spPr>
        <p:txBody>
          <a:bodyPr wrap="square" lIns="0" tIns="0" rIns="0" bIns="0">
            <a:noAutofit/>
          </a:bodyPr>
          <a:lstStyle/>
          <a:p>
            <a:pPr algn="l">
              <a:lnSpc>
                <a:spcPct val="112000"/>
              </a:lnSpc>
              <a:spcAft>
                <a:spcPts val="500"/>
              </a:spcAft>
            </a:pPr>
            <a:r>
              <a:rPr lang="vi-VN" sz="1800" b="0">
                <a:solidFill>
                  <a:srgbClr val="24332F"/>
                </a:solidFill>
                <a:latin typeface="Times New Roman"/>
                <a:ea typeface="Times New Roman"/>
                <a:cs typeface="Times New Roman"/>
              </a:rPr>
              <a:t>256 byte</a:t>
            </a:r>
          </a:p>
        </p:txBody>
      </p:sp>
      <p:sp>
        <p:nvSpPr>
          <p:cNvPr id="14" name="Element 14"/>
          <p:cNvSpPr txBox="1"/>
          <p:nvPr/>
        </p:nvSpPr>
        <p:spPr>
          <a:xfrm>
            <a:off x="3457575" y="3705225"/>
            <a:ext cx="571500" cy="609600"/>
          </a:xfrm>
          <a:prstGeom prst="rect">
            <a:avLst/>
          </a:prstGeom>
          <a:noFill/>
        </p:spPr>
        <p:txBody>
          <a:bodyPr wrap="square" lIns="0" tIns="0" rIns="0" bIns="0">
            <a:noAutofit/>
          </a:bodyPr>
          <a:lstStyle/>
          <a:p>
            <a:pPr algn="ctr">
              <a:lnSpc>
                <a:spcPct val="112000"/>
              </a:lnSpc>
              <a:spcAft>
                <a:spcPts val="500"/>
              </a:spcAft>
            </a:pPr>
            <a:r>
              <a:rPr lang="vi-VN" sz="3000" b="1">
                <a:solidFill>
                  <a:srgbClr val="A9472E"/>
                </a:solidFill>
                <a:latin typeface="Times New Roman"/>
                <a:ea typeface="Times New Roman"/>
                <a:cs typeface="Times New Roman"/>
              </a:rPr>
              <a:t>→</a:t>
            </a:r>
          </a:p>
        </p:txBody>
      </p:sp>
      <p:sp>
        <p:nvSpPr>
          <p:cNvPr id="15" name="Element 15"/>
          <p:cNvSpPr txBox="1"/>
          <p:nvPr/>
        </p:nvSpPr>
        <p:spPr>
          <a:xfrm>
            <a:off x="7953375" y="3705225"/>
            <a:ext cx="571500" cy="609600"/>
          </a:xfrm>
          <a:prstGeom prst="rect">
            <a:avLst/>
          </a:prstGeom>
          <a:noFill/>
        </p:spPr>
        <p:txBody>
          <a:bodyPr wrap="square" lIns="0" tIns="0" rIns="0" bIns="0">
            <a:noAutofit/>
          </a:bodyPr>
          <a:lstStyle/>
          <a:p>
            <a:pPr algn="ctr">
              <a:lnSpc>
                <a:spcPct val="112000"/>
              </a:lnSpc>
              <a:spcAft>
                <a:spcPts val="500"/>
              </a:spcAft>
            </a:pPr>
            <a:r>
              <a:rPr lang="vi-VN" sz="3000" b="1">
                <a:solidFill>
                  <a:srgbClr val="A9472E"/>
                </a:solidFill>
                <a:latin typeface="Times New Roman"/>
                <a:ea typeface="Times New Roman"/>
                <a:cs typeface="Times New Roman"/>
              </a:rPr>
              <a:t>→</a:t>
            </a:r>
          </a:p>
        </p:txBody>
      </p:sp>
      <p:sp>
        <p:nvSpPr>
          <p:cNvPr id="16" name="Element 16"/>
          <p:cNvSpPr/>
          <p:nvPr/>
        </p:nvSpPr>
        <p:spPr>
          <a:xfrm>
            <a:off x="762000" y="5791200"/>
            <a:ext cx="47625" cy="571500"/>
          </a:xfrm>
          <a:prstGeom prst="rect">
            <a:avLst/>
          </a:prstGeom>
          <a:solidFill>
            <a:srgbClr val="A9472E"/>
          </a:solidFill>
          <a:ln>
            <a:noFill/>
          </a:ln>
        </p:spPr>
      </p:sp>
      <p:sp>
        <p:nvSpPr>
          <p:cNvPr id="17" name="Element 17"/>
          <p:cNvSpPr txBox="1"/>
          <p:nvPr/>
        </p:nvSpPr>
        <p:spPr>
          <a:xfrm>
            <a:off x="990600" y="5829300"/>
            <a:ext cx="10382250" cy="647700"/>
          </a:xfrm>
          <a:prstGeom prst="rect">
            <a:avLst/>
          </a:prstGeom>
          <a:noFill/>
        </p:spPr>
        <p:txBody>
          <a:bodyPr wrap="square" lIns="0" tIns="0" rIns="0" bIns="0">
            <a:noAutofit/>
          </a:bodyPr>
          <a:lstStyle/>
          <a:p>
            <a:pPr algn="l">
              <a:lnSpc>
                <a:spcPct val="112000"/>
              </a:lnSpc>
              <a:spcAft>
                <a:spcPts val="500"/>
              </a:spcAft>
            </a:pPr>
            <a:r>
              <a:rPr lang="vi-VN" sz="1800" b="0">
                <a:solidFill>
                  <a:srgbClr val="24332F"/>
                </a:solidFill>
                <a:latin typeface="Times New Roman"/>
                <a:ea typeface="Times New Roman"/>
                <a:cs typeface="Times New Roman"/>
              </a:rPr>
              <a:t>Bob dùng private key để mở  ·  OAEP: SHA-256 / MGF1-SHA-256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ement 2"/>
          <p:cNvSpPr/>
          <p:nvPr/>
        </p:nvSpPr>
        <p:spPr>
          <a:xfrm>
            <a:off x="0" y="0"/>
            <a:ext cx="12192000" cy="6858000"/>
          </a:xfrm>
          <a:prstGeom prst="rect">
            <a:avLst/>
          </a:prstGeom>
          <a:solidFill>
            <a:srgbClr val="F4EFE5"/>
          </a:solidFill>
          <a:ln>
            <a:noFill/>
          </a:ln>
        </p:spPr>
      </p:sp>
      <p:sp>
        <p:nvSpPr>
          <p:cNvPr id="3" name="Element 3"/>
          <p:cNvSpPr/>
          <p:nvPr/>
        </p:nvSpPr>
        <p:spPr>
          <a:xfrm>
            <a:off x="457200" y="495300"/>
            <a:ext cx="66675" cy="800100"/>
          </a:xfrm>
          <a:prstGeom prst="rect">
            <a:avLst/>
          </a:prstGeom>
          <a:solidFill>
            <a:srgbClr val="A9472E"/>
          </a:solidFill>
          <a:ln>
            <a:noFill/>
          </a:ln>
        </p:spPr>
      </p:sp>
      <p:sp>
        <p:nvSpPr>
          <p:cNvPr id="4" name="Element 4"/>
          <p:cNvSpPr txBox="1"/>
          <p:nvPr/>
        </p:nvSpPr>
        <p:spPr>
          <a:xfrm>
            <a:off x="762000" y="495300"/>
            <a:ext cx="10477500" cy="323850"/>
          </a:xfrm>
          <a:prstGeom prst="rect">
            <a:avLst/>
          </a:prstGeom>
          <a:noFill/>
        </p:spPr>
        <p:txBody>
          <a:bodyPr wrap="square" lIns="0" tIns="0" rIns="0" bIns="0">
            <a:noAutofit/>
          </a:bodyPr>
          <a:lstStyle/>
          <a:p>
            <a:pPr algn="l">
              <a:lnSpc>
                <a:spcPct val="112000"/>
              </a:lnSpc>
              <a:spcAft>
                <a:spcPts val="500"/>
              </a:spcAft>
            </a:pPr>
            <a:r>
              <a:rPr lang="vi-VN" sz="2000" b="1" dirty="0">
                <a:solidFill>
                  <a:srgbClr val="A9472E"/>
                </a:solidFill>
                <a:latin typeface="Times New Roman"/>
                <a:ea typeface="Times New Roman"/>
                <a:cs typeface="Times New Roman"/>
              </a:rPr>
              <a:t>02 / RSA-OAEP </a:t>
            </a:r>
          </a:p>
        </p:txBody>
      </p:sp>
      <p:sp>
        <p:nvSpPr>
          <p:cNvPr id="5" name="Element 5"/>
          <p:cNvSpPr txBox="1"/>
          <p:nvPr/>
        </p:nvSpPr>
        <p:spPr>
          <a:xfrm>
            <a:off x="742950" y="1000125"/>
            <a:ext cx="10620375" cy="990600"/>
          </a:xfrm>
          <a:prstGeom prst="rect">
            <a:avLst/>
          </a:prstGeom>
          <a:noFill/>
        </p:spPr>
        <p:txBody>
          <a:bodyPr wrap="square" lIns="0" tIns="0" rIns="0" bIns="0">
            <a:noAutofit/>
          </a:bodyPr>
          <a:lstStyle/>
          <a:p>
            <a:pPr algn="l">
              <a:lnSpc>
                <a:spcPct val="112000"/>
              </a:lnSpc>
              <a:spcAft>
                <a:spcPts val="500"/>
              </a:spcAft>
            </a:pPr>
            <a:r>
              <a:rPr lang="vi-VN" sz="2500" b="1">
                <a:solidFill>
                  <a:srgbClr val="24332F"/>
                </a:solidFill>
                <a:latin typeface="Times New Roman"/>
                <a:ea typeface="Times New Roman"/>
                <a:cs typeface="Times New Roman"/>
              </a:rPr>
              <a:t>Hai thuật toán, một gói trao đổi</a:t>
            </a:r>
          </a:p>
        </p:txBody>
      </p:sp>
      <p:sp>
        <p:nvSpPr>
          <p:cNvPr id="6" name="Element 6"/>
          <p:cNvSpPr txBox="1"/>
          <p:nvPr/>
        </p:nvSpPr>
        <p:spPr>
          <a:xfrm>
            <a:off x="762000" y="2019300"/>
            <a:ext cx="10620375" cy="628650"/>
          </a:xfrm>
          <a:prstGeom prst="rect">
            <a:avLst/>
          </a:prstGeom>
          <a:noFill/>
        </p:spPr>
        <p:txBody>
          <a:bodyPr wrap="square" lIns="0" tIns="0" rIns="0" bIns="0">
            <a:noAutofit/>
          </a:bodyPr>
          <a:lstStyle/>
          <a:p>
            <a:pPr algn="l">
              <a:lnSpc>
                <a:spcPct val="112000"/>
              </a:lnSpc>
              <a:spcAft>
                <a:spcPts val="500"/>
              </a:spcAft>
            </a:pPr>
            <a:r>
              <a:rPr lang="vi-VN" sz="1800" b="0">
                <a:solidFill>
                  <a:srgbClr val="667269"/>
                </a:solidFill>
                <a:latin typeface="Times New Roman"/>
                <a:ea typeface="Times New Roman"/>
                <a:cs typeface="Times New Roman"/>
              </a:rPr>
              <a:t>AES xử lý nội dung  ·  RSA chuyển khoá AES cho người nhận.</a:t>
            </a:r>
          </a:p>
        </p:txBody>
      </p:sp>
      <p:sp>
        <p:nvSpPr>
          <p:cNvPr id="7" name="Element 7"/>
          <p:cNvSpPr/>
          <p:nvPr/>
        </p:nvSpPr>
        <p:spPr>
          <a:xfrm>
            <a:off x="762000" y="3038475"/>
            <a:ext cx="2381250" cy="1152525"/>
          </a:xfrm>
          <a:prstGeom prst="rect">
            <a:avLst/>
          </a:prstGeom>
          <a:solidFill>
            <a:srgbClr val="E4E8DC"/>
          </a:solidFill>
          <a:ln>
            <a:noFill/>
          </a:ln>
        </p:spPr>
      </p:sp>
      <p:sp>
        <p:nvSpPr>
          <p:cNvPr id="8" name="Element 8"/>
          <p:cNvSpPr txBox="1"/>
          <p:nvPr/>
        </p:nvSpPr>
        <p:spPr>
          <a:xfrm>
            <a:off x="876300" y="3371850"/>
            <a:ext cx="2152650" cy="704850"/>
          </a:xfrm>
          <a:prstGeom prst="rect">
            <a:avLst/>
          </a:prstGeom>
          <a:noFill/>
        </p:spPr>
        <p:txBody>
          <a:bodyPr wrap="square" lIns="0" tIns="0" rIns="0" bIns="0">
            <a:noAutofit/>
          </a:bodyPr>
          <a:lstStyle/>
          <a:p>
            <a:pPr algn="ctr">
              <a:lnSpc>
                <a:spcPct val="112000"/>
              </a:lnSpc>
              <a:spcAft>
                <a:spcPts val="500"/>
              </a:spcAft>
            </a:pPr>
            <a:r>
              <a:rPr lang="vi-VN" sz="1900" b="1">
                <a:solidFill>
                  <a:srgbClr val="24332F"/>
                </a:solidFill>
                <a:latin typeface="Times New Roman"/>
                <a:ea typeface="Times New Roman"/>
                <a:cs typeface="Times New Roman"/>
              </a:rPr>
              <a:t>METADATA</a:t>
            </a:r>
          </a:p>
        </p:txBody>
      </p:sp>
      <p:sp>
        <p:nvSpPr>
          <p:cNvPr id="9" name="Element 9"/>
          <p:cNvSpPr/>
          <p:nvPr/>
        </p:nvSpPr>
        <p:spPr>
          <a:xfrm>
            <a:off x="3333750" y="3038475"/>
            <a:ext cx="2952750" cy="1152525"/>
          </a:xfrm>
          <a:prstGeom prst="rect">
            <a:avLst/>
          </a:prstGeom>
          <a:solidFill>
            <a:srgbClr val="182D28"/>
          </a:solidFill>
          <a:ln>
            <a:noFill/>
          </a:ln>
        </p:spPr>
      </p:sp>
      <p:sp>
        <p:nvSpPr>
          <p:cNvPr id="10" name="Element 10"/>
          <p:cNvSpPr txBox="1"/>
          <p:nvPr/>
        </p:nvSpPr>
        <p:spPr>
          <a:xfrm>
            <a:off x="3448050" y="3371850"/>
            <a:ext cx="2724150" cy="704850"/>
          </a:xfrm>
          <a:prstGeom prst="rect">
            <a:avLst/>
          </a:prstGeom>
          <a:noFill/>
        </p:spPr>
        <p:txBody>
          <a:bodyPr wrap="square" lIns="0" tIns="0" rIns="0" bIns="0">
            <a:noAutofit/>
          </a:bodyPr>
          <a:lstStyle/>
          <a:p>
            <a:pPr algn="ctr">
              <a:lnSpc>
                <a:spcPct val="112000"/>
              </a:lnSpc>
              <a:spcAft>
                <a:spcPts val="500"/>
              </a:spcAft>
            </a:pPr>
            <a:r>
              <a:rPr lang="vi-VN" sz="1900" b="1">
                <a:solidFill>
                  <a:srgbClr val="D6B67D"/>
                </a:solidFill>
                <a:latin typeface="Times New Roman"/>
                <a:ea typeface="Times New Roman"/>
                <a:cs typeface="Times New Roman"/>
              </a:rPr>
              <a:t>AES ĐÃ BỌC</a:t>
            </a:r>
          </a:p>
        </p:txBody>
      </p:sp>
      <p:sp>
        <p:nvSpPr>
          <p:cNvPr id="11" name="Element 11"/>
          <p:cNvSpPr/>
          <p:nvPr/>
        </p:nvSpPr>
        <p:spPr>
          <a:xfrm>
            <a:off x="6477000" y="3038475"/>
            <a:ext cx="1428750" cy="1152525"/>
          </a:xfrm>
          <a:prstGeom prst="rect">
            <a:avLst/>
          </a:prstGeom>
          <a:solidFill>
            <a:srgbClr val="E4E8DC"/>
          </a:solidFill>
          <a:ln>
            <a:noFill/>
          </a:ln>
        </p:spPr>
      </p:sp>
      <p:sp>
        <p:nvSpPr>
          <p:cNvPr id="12" name="Element 12"/>
          <p:cNvSpPr txBox="1"/>
          <p:nvPr/>
        </p:nvSpPr>
        <p:spPr>
          <a:xfrm>
            <a:off x="6591300" y="3371850"/>
            <a:ext cx="1200150" cy="704850"/>
          </a:xfrm>
          <a:prstGeom prst="rect">
            <a:avLst/>
          </a:prstGeom>
          <a:noFill/>
        </p:spPr>
        <p:txBody>
          <a:bodyPr wrap="square" lIns="0" tIns="0" rIns="0" bIns="0">
            <a:noAutofit/>
          </a:bodyPr>
          <a:lstStyle/>
          <a:p>
            <a:pPr algn="ctr">
              <a:lnSpc>
                <a:spcPct val="112000"/>
              </a:lnSpc>
              <a:spcAft>
                <a:spcPts val="500"/>
              </a:spcAft>
            </a:pPr>
            <a:r>
              <a:rPr lang="vi-VN" sz="1900" b="1">
                <a:solidFill>
                  <a:srgbClr val="24332F"/>
                </a:solidFill>
                <a:latin typeface="Times New Roman"/>
                <a:ea typeface="Times New Roman"/>
                <a:cs typeface="Times New Roman"/>
              </a:rPr>
              <a:t>IV</a:t>
            </a:r>
          </a:p>
        </p:txBody>
      </p:sp>
      <p:sp>
        <p:nvSpPr>
          <p:cNvPr id="13" name="Element 13"/>
          <p:cNvSpPr/>
          <p:nvPr/>
        </p:nvSpPr>
        <p:spPr>
          <a:xfrm>
            <a:off x="8096250" y="3038475"/>
            <a:ext cx="3333750" cy="1152525"/>
          </a:xfrm>
          <a:prstGeom prst="rect">
            <a:avLst/>
          </a:prstGeom>
          <a:solidFill>
            <a:srgbClr val="E4E8DC"/>
          </a:solidFill>
          <a:ln>
            <a:noFill/>
          </a:ln>
        </p:spPr>
      </p:sp>
      <p:sp>
        <p:nvSpPr>
          <p:cNvPr id="14" name="Element 14"/>
          <p:cNvSpPr txBox="1"/>
          <p:nvPr/>
        </p:nvSpPr>
        <p:spPr>
          <a:xfrm>
            <a:off x="8210550" y="3371850"/>
            <a:ext cx="3105150" cy="704850"/>
          </a:xfrm>
          <a:prstGeom prst="rect">
            <a:avLst/>
          </a:prstGeom>
          <a:noFill/>
        </p:spPr>
        <p:txBody>
          <a:bodyPr wrap="square" lIns="0" tIns="0" rIns="0" bIns="0">
            <a:noAutofit/>
          </a:bodyPr>
          <a:lstStyle/>
          <a:p>
            <a:pPr algn="ctr">
              <a:lnSpc>
                <a:spcPct val="112000"/>
              </a:lnSpc>
              <a:spcAft>
                <a:spcPts val="500"/>
              </a:spcAft>
            </a:pPr>
            <a:r>
              <a:rPr lang="vi-VN" sz="1900" b="1">
                <a:solidFill>
                  <a:srgbClr val="24332F"/>
                </a:solidFill>
                <a:latin typeface="Times New Roman"/>
                <a:ea typeface="Times New Roman"/>
                <a:cs typeface="Times New Roman"/>
              </a:rPr>
              <a:t>BẢN MÃ + TAG</a:t>
            </a:r>
          </a:p>
        </p:txBody>
      </p:sp>
      <p:sp>
        <p:nvSpPr>
          <p:cNvPr id="16" name="Element 16"/>
          <p:cNvSpPr txBox="1"/>
          <p:nvPr/>
        </p:nvSpPr>
        <p:spPr>
          <a:xfrm>
            <a:off x="762000" y="5076825"/>
            <a:ext cx="10572750" cy="619125"/>
          </a:xfrm>
          <a:prstGeom prst="rect">
            <a:avLst/>
          </a:prstGeom>
          <a:noFill/>
        </p:spPr>
        <p:txBody>
          <a:bodyPr wrap="square" lIns="0" tIns="0" rIns="0" bIns="0">
            <a:noAutofit/>
          </a:bodyPr>
          <a:lstStyle/>
          <a:p>
            <a:pPr algn="l">
              <a:lnSpc>
                <a:spcPct val="112000"/>
              </a:lnSpc>
              <a:spcAft>
                <a:spcPts val="500"/>
              </a:spcAft>
            </a:pPr>
            <a:r>
              <a:rPr lang="vi-VN" sz="2200" b="1">
                <a:solidFill>
                  <a:srgbClr val="24332F"/>
                </a:solidFill>
                <a:latin typeface="Times New Roman"/>
                <a:ea typeface="Times New Roman"/>
                <a:cs typeface="Times New Roman"/>
              </a:rPr>
              <a:t>BOB: mở AES → xác thực GCM → khôi phục tệp</a:t>
            </a:r>
          </a:p>
        </p:txBody>
      </p:sp>
      <p:sp>
        <p:nvSpPr>
          <p:cNvPr id="17" name="Element 17"/>
          <p:cNvSpPr/>
          <p:nvPr/>
        </p:nvSpPr>
        <p:spPr>
          <a:xfrm>
            <a:off x="762000" y="5915025"/>
            <a:ext cx="47625" cy="571500"/>
          </a:xfrm>
          <a:prstGeom prst="rect">
            <a:avLst/>
          </a:prstGeom>
          <a:solidFill>
            <a:srgbClr val="A9472E"/>
          </a:solidFill>
          <a:ln>
            <a:noFill/>
          </a:ln>
        </p:spPr>
      </p:sp>
      <p:sp>
        <p:nvSpPr>
          <p:cNvPr id="18" name="Element 18"/>
          <p:cNvSpPr txBox="1"/>
          <p:nvPr/>
        </p:nvSpPr>
        <p:spPr>
          <a:xfrm>
            <a:off x="990600" y="5953125"/>
            <a:ext cx="10382250" cy="647700"/>
          </a:xfrm>
          <a:prstGeom prst="rect">
            <a:avLst/>
          </a:prstGeom>
          <a:noFill/>
        </p:spPr>
        <p:txBody>
          <a:bodyPr wrap="square" lIns="0" tIns="0" rIns="0" bIns="0">
            <a:noAutofit/>
          </a:bodyPr>
          <a:lstStyle/>
          <a:p>
            <a:pPr algn="l">
              <a:lnSpc>
                <a:spcPct val="112000"/>
              </a:lnSpc>
              <a:spcAft>
                <a:spcPts val="500"/>
              </a:spcAft>
            </a:pPr>
            <a:r>
              <a:rPr lang="vi-VN" sz="1800" b="0">
                <a:solidFill>
                  <a:srgbClr val="24332F"/>
                </a:solidFill>
                <a:latin typeface="Times New Roman"/>
                <a:ea typeface="Times New Roman"/>
                <a:cs typeface="Times New Roman"/>
              </a:rPr>
              <a:t>Có public key Bob chưa chứng minh người gửi là Alice.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ement 2"/>
          <p:cNvSpPr/>
          <p:nvPr/>
        </p:nvSpPr>
        <p:spPr>
          <a:xfrm>
            <a:off x="0" y="0"/>
            <a:ext cx="12192000" cy="6858000"/>
          </a:xfrm>
          <a:prstGeom prst="rect">
            <a:avLst/>
          </a:prstGeom>
          <a:solidFill>
            <a:srgbClr val="F4EFE5"/>
          </a:solidFill>
          <a:ln>
            <a:noFill/>
          </a:ln>
        </p:spPr>
      </p:sp>
      <p:sp>
        <p:nvSpPr>
          <p:cNvPr id="3" name="Element 3"/>
          <p:cNvSpPr/>
          <p:nvPr/>
        </p:nvSpPr>
        <p:spPr>
          <a:xfrm>
            <a:off x="457200" y="495300"/>
            <a:ext cx="66675" cy="800100"/>
          </a:xfrm>
          <a:prstGeom prst="rect">
            <a:avLst/>
          </a:prstGeom>
          <a:solidFill>
            <a:srgbClr val="A9472E"/>
          </a:solidFill>
          <a:ln>
            <a:noFill/>
          </a:ln>
        </p:spPr>
      </p:sp>
      <p:sp>
        <p:nvSpPr>
          <p:cNvPr id="4" name="Element 4"/>
          <p:cNvSpPr txBox="1"/>
          <p:nvPr/>
        </p:nvSpPr>
        <p:spPr>
          <a:xfrm>
            <a:off x="762000" y="495300"/>
            <a:ext cx="10477500" cy="323850"/>
          </a:xfrm>
          <a:prstGeom prst="rect">
            <a:avLst/>
          </a:prstGeom>
          <a:noFill/>
        </p:spPr>
        <p:txBody>
          <a:bodyPr wrap="square" lIns="0" tIns="0" rIns="0" bIns="0">
            <a:noAutofit/>
          </a:bodyPr>
          <a:lstStyle/>
          <a:p>
            <a:pPr algn="l">
              <a:lnSpc>
                <a:spcPct val="112000"/>
              </a:lnSpc>
              <a:spcAft>
                <a:spcPts val="500"/>
              </a:spcAft>
            </a:pPr>
            <a:r>
              <a:rPr lang="vi-VN" sz="2000" b="1" dirty="0">
                <a:solidFill>
                  <a:srgbClr val="A9472E"/>
                </a:solidFill>
                <a:latin typeface="Times New Roman"/>
                <a:ea typeface="Times New Roman"/>
                <a:cs typeface="Times New Roman"/>
              </a:rPr>
              <a:t>03 / XÁC THỰC </a:t>
            </a:r>
          </a:p>
        </p:txBody>
      </p:sp>
      <p:sp>
        <p:nvSpPr>
          <p:cNvPr id="5" name="Element 5"/>
          <p:cNvSpPr txBox="1"/>
          <p:nvPr/>
        </p:nvSpPr>
        <p:spPr>
          <a:xfrm>
            <a:off x="742950" y="1000125"/>
            <a:ext cx="10620375" cy="990600"/>
          </a:xfrm>
          <a:prstGeom prst="rect">
            <a:avLst/>
          </a:prstGeom>
          <a:noFill/>
        </p:spPr>
        <p:txBody>
          <a:bodyPr wrap="square" lIns="0" tIns="0" rIns="0" bIns="0">
            <a:noAutofit/>
          </a:bodyPr>
          <a:lstStyle/>
          <a:p>
            <a:pPr algn="l">
              <a:lnSpc>
                <a:spcPct val="112000"/>
              </a:lnSpc>
              <a:spcAft>
                <a:spcPts val="500"/>
              </a:spcAft>
            </a:pPr>
            <a:r>
              <a:rPr lang="vi-VN" sz="2500" b="1">
                <a:solidFill>
                  <a:srgbClr val="24332F"/>
                </a:solidFill>
                <a:latin typeface="Times New Roman"/>
                <a:ea typeface="Times New Roman"/>
                <a:cs typeface="Times New Roman"/>
              </a:rPr>
              <a:t>Đúng người gửi: chữ ký RSA-PSS</a:t>
            </a:r>
          </a:p>
        </p:txBody>
      </p:sp>
      <p:sp>
        <p:nvSpPr>
          <p:cNvPr id="6" name="Element 6"/>
          <p:cNvSpPr txBox="1"/>
          <p:nvPr/>
        </p:nvSpPr>
        <p:spPr>
          <a:xfrm>
            <a:off x="762000" y="2019300"/>
            <a:ext cx="10620375" cy="628650"/>
          </a:xfrm>
          <a:prstGeom prst="rect">
            <a:avLst/>
          </a:prstGeom>
          <a:noFill/>
        </p:spPr>
        <p:txBody>
          <a:bodyPr wrap="square" lIns="0" tIns="0" rIns="0" bIns="0">
            <a:noAutofit/>
          </a:bodyPr>
          <a:lstStyle/>
          <a:p>
            <a:pPr algn="l">
              <a:lnSpc>
                <a:spcPct val="112000"/>
              </a:lnSpc>
              <a:spcAft>
                <a:spcPts val="500"/>
              </a:spcAft>
            </a:pPr>
            <a:r>
              <a:rPr lang="vi-VN" sz="1800" b="0">
                <a:solidFill>
                  <a:srgbClr val="667269"/>
                </a:solidFill>
                <a:latin typeface="Times New Roman"/>
                <a:ea typeface="Times New Roman"/>
                <a:cs typeface="Times New Roman"/>
              </a:rPr>
              <a:t>Alice và Bob dùng hai cặp khoá với mục đích riêng.</a:t>
            </a:r>
          </a:p>
        </p:txBody>
      </p:sp>
      <p:sp>
        <p:nvSpPr>
          <p:cNvPr id="7" name="Element 7"/>
          <p:cNvSpPr/>
          <p:nvPr/>
        </p:nvSpPr>
        <p:spPr>
          <a:xfrm>
            <a:off x="762000" y="2905125"/>
            <a:ext cx="4953000" cy="2305050"/>
          </a:xfrm>
          <a:prstGeom prst="rect">
            <a:avLst/>
          </a:prstGeom>
          <a:solidFill>
            <a:srgbClr val="182D28"/>
          </a:solidFill>
          <a:ln>
            <a:noFill/>
          </a:ln>
        </p:spPr>
      </p:sp>
      <p:sp>
        <p:nvSpPr>
          <p:cNvPr id="8" name="Element 8"/>
          <p:cNvSpPr/>
          <p:nvPr/>
        </p:nvSpPr>
        <p:spPr>
          <a:xfrm>
            <a:off x="1000125" y="3114675"/>
            <a:ext cx="4448175" cy="9525"/>
          </a:xfrm>
          <a:prstGeom prst="rect">
            <a:avLst/>
          </a:prstGeom>
          <a:solidFill>
            <a:srgbClr val="D6B67D"/>
          </a:solidFill>
          <a:ln>
            <a:noFill/>
          </a:ln>
        </p:spPr>
      </p:sp>
      <p:sp>
        <p:nvSpPr>
          <p:cNvPr id="9" name="Element 9"/>
          <p:cNvSpPr txBox="1"/>
          <p:nvPr/>
        </p:nvSpPr>
        <p:spPr>
          <a:xfrm>
            <a:off x="1000125" y="3305175"/>
            <a:ext cx="4448175" cy="619125"/>
          </a:xfrm>
          <a:prstGeom prst="rect">
            <a:avLst/>
          </a:prstGeom>
          <a:noFill/>
        </p:spPr>
        <p:txBody>
          <a:bodyPr wrap="square" lIns="0" tIns="0" rIns="0" bIns="0">
            <a:noAutofit/>
          </a:bodyPr>
          <a:lstStyle/>
          <a:p>
            <a:pPr algn="l">
              <a:lnSpc>
                <a:spcPct val="112000"/>
              </a:lnSpc>
              <a:spcAft>
                <a:spcPts val="500"/>
              </a:spcAft>
            </a:pPr>
            <a:r>
              <a:rPr lang="vi-VN" sz="2000" b="1">
                <a:solidFill>
                  <a:srgbClr val="D6B67D"/>
                </a:solidFill>
                <a:latin typeface="Times New Roman"/>
                <a:ea typeface="Times New Roman"/>
                <a:cs typeface="Times New Roman"/>
              </a:rPr>
              <a:t>ALICE KÝ</a:t>
            </a:r>
          </a:p>
        </p:txBody>
      </p:sp>
      <p:sp>
        <p:nvSpPr>
          <p:cNvPr id="10" name="Element 10"/>
          <p:cNvSpPr txBox="1"/>
          <p:nvPr/>
        </p:nvSpPr>
        <p:spPr>
          <a:xfrm>
            <a:off x="1000125" y="4124325"/>
            <a:ext cx="4448175" cy="1285875"/>
          </a:xfrm>
          <a:prstGeom prst="rect">
            <a:avLst/>
          </a:prstGeom>
          <a:noFill/>
        </p:spPr>
        <p:txBody>
          <a:bodyPr wrap="square" lIns="0" tIns="0" rIns="0" bIns="0">
            <a:noAutofit/>
          </a:bodyPr>
          <a:lstStyle/>
          <a:p>
            <a:pPr algn="l">
              <a:lnSpc>
                <a:spcPct val="112000"/>
              </a:lnSpc>
              <a:spcAft>
                <a:spcPts val="500"/>
              </a:spcAft>
            </a:pPr>
            <a:r>
              <a:rPr lang="vi-VN" sz="1800" b="0">
                <a:solidFill>
                  <a:srgbClr val="F4EFE5"/>
                </a:solidFill>
                <a:latin typeface="Times New Roman"/>
                <a:ea typeface="Times New Roman"/>
                <a:cs typeface="Times New Roman"/>
              </a:rPr>
              <a:t>Gói mã hoá + private key Alice</a:t>
            </a:r>
          </a:p>
          <a:p>
            <a:pPr algn="l">
              <a:lnSpc>
                <a:spcPct val="112000"/>
              </a:lnSpc>
              <a:spcAft>
                <a:spcPts val="500"/>
              </a:spcAft>
            </a:pPr>
            <a:r>
              <a:rPr lang="vi-VN" sz="1800" b="0">
                <a:solidFill>
                  <a:srgbClr val="F4EFE5"/>
                </a:solidFill>
                <a:latin typeface="Times New Roman"/>
                <a:ea typeface="Times New Roman"/>
                <a:cs typeface="Times New Roman"/>
              </a:rPr>
              <a:t>→ Chữ ký RSA-PSS</a:t>
            </a:r>
          </a:p>
        </p:txBody>
      </p:sp>
      <p:sp>
        <p:nvSpPr>
          <p:cNvPr id="11" name="Element 11"/>
          <p:cNvSpPr/>
          <p:nvPr/>
        </p:nvSpPr>
        <p:spPr>
          <a:xfrm>
            <a:off x="6572250" y="3114675"/>
            <a:ext cx="4714875" cy="9525"/>
          </a:xfrm>
          <a:prstGeom prst="rect">
            <a:avLst/>
          </a:prstGeom>
          <a:solidFill>
            <a:srgbClr val="A9472E"/>
          </a:solidFill>
          <a:ln>
            <a:noFill/>
          </a:ln>
        </p:spPr>
      </p:sp>
      <p:sp>
        <p:nvSpPr>
          <p:cNvPr id="12" name="Element 12"/>
          <p:cNvSpPr txBox="1"/>
          <p:nvPr/>
        </p:nvSpPr>
        <p:spPr>
          <a:xfrm>
            <a:off x="6572250" y="3305175"/>
            <a:ext cx="4714875" cy="619125"/>
          </a:xfrm>
          <a:prstGeom prst="rect">
            <a:avLst/>
          </a:prstGeom>
          <a:noFill/>
        </p:spPr>
        <p:txBody>
          <a:bodyPr wrap="square" lIns="0" tIns="0" rIns="0" bIns="0">
            <a:noAutofit/>
          </a:bodyPr>
          <a:lstStyle/>
          <a:p>
            <a:pPr algn="l">
              <a:lnSpc>
                <a:spcPct val="112000"/>
              </a:lnSpc>
              <a:spcAft>
                <a:spcPts val="500"/>
              </a:spcAft>
            </a:pPr>
            <a:r>
              <a:rPr lang="vi-VN" sz="2000" b="1">
                <a:solidFill>
                  <a:srgbClr val="A9472E"/>
                </a:solidFill>
                <a:latin typeface="Times New Roman"/>
                <a:ea typeface="Times New Roman"/>
                <a:cs typeface="Times New Roman"/>
              </a:rPr>
              <a:t>BOB KIỂM TRA</a:t>
            </a:r>
          </a:p>
        </p:txBody>
      </p:sp>
      <p:sp>
        <p:nvSpPr>
          <p:cNvPr id="13" name="Element 13"/>
          <p:cNvSpPr txBox="1"/>
          <p:nvPr/>
        </p:nvSpPr>
        <p:spPr>
          <a:xfrm>
            <a:off x="6572250" y="4124325"/>
            <a:ext cx="4714875" cy="1285875"/>
          </a:xfrm>
          <a:prstGeom prst="rect">
            <a:avLst/>
          </a:prstGeom>
          <a:noFill/>
        </p:spPr>
        <p:txBody>
          <a:bodyPr wrap="square" lIns="0" tIns="0" rIns="0" bIns="0">
            <a:noAutofit/>
          </a:bodyPr>
          <a:lstStyle/>
          <a:p>
            <a:pPr algn="l">
              <a:lnSpc>
                <a:spcPct val="112000"/>
              </a:lnSpc>
              <a:spcAft>
                <a:spcPts val="500"/>
              </a:spcAft>
            </a:pPr>
            <a:r>
              <a:rPr lang="vi-VN" sz="1800" b="0">
                <a:solidFill>
                  <a:srgbClr val="24332F"/>
                </a:solidFill>
                <a:latin typeface="Times New Roman"/>
                <a:ea typeface="Times New Roman"/>
                <a:cs typeface="Times New Roman"/>
              </a:rPr>
              <a:t>Public key Alice đã tin cậy</a:t>
            </a:r>
          </a:p>
          <a:p>
            <a:pPr algn="l">
              <a:lnSpc>
                <a:spcPct val="112000"/>
              </a:lnSpc>
              <a:spcAft>
                <a:spcPts val="500"/>
              </a:spcAft>
            </a:pPr>
            <a:r>
              <a:rPr lang="vi-VN" sz="1800" b="0">
                <a:solidFill>
                  <a:srgbClr val="24332F"/>
                </a:solidFill>
                <a:latin typeface="Times New Roman"/>
                <a:ea typeface="Times New Roman"/>
                <a:cs typeface="Times New Roman"/>
              </a:rPr>
              <a:t>→ Hợp lệ mới giải mã</a:t>
            </a:r>
          </a:p>
        </p:txBody>
      </p:sp>
      <p:sp>
        <p:nvSpPr>
          <p:cNvPr id="14" name="Element 14"/>
          <p:cNvSpPr txBox="1"/>
          <p:nvPr/>
        </p:nvSpPr>
        <p:spPr>
          <a:xfrm>
            <a:off x="762000" y="5476875"/>
            <a:ext cx="10572750" cy="466725"/>
          </a:xfrm>
          <a:prstGeom prst="rect">
            <a:avLst/>
          </a:prstGeom>
          <a:noFill/>
        </p:spPr>
        <p:txBody>
          <a:bodyPr wrap="square" lIns="0" tIns="0" rIns="0" bIns="0">
            <a:noAutofit/>
          </a:bodyPr>
          <a:lstStyle/>
          <a:p>
            <a:pPr algn="l">
              <a:lnSpc>
                <a:spcPct val="112000"/>
              </a:lnSpc>
              <a:spcAft>
                <a:spcPts val="500"/>
              </a:spcAft>
            </a:pPr>
            <a:r>
              <a:rPr lang="vi-VN" sz="2000" b="1">
                <a:solidFill>
                  <a:srgbClr val="A9472E"/>
                </a:solidFill>
                <a:latin typeface="Times New Roman"/>
                <a:ea typeface="Times New Roman"/>
                <a:cs typeface="Times New Roman"/>
              </a:rPr>
              <a:t>Fingerprint = SHA-256(public key DER)</a:t>
            </a:r>
          </a:p>
        </p:txBody>
      </p:sp>
      <p:sp>
        <p:nvSpPr>
          <p:cNvPr id="15" name="Element 15"/>
          <p:cNvSpPr txBox="1"/>
          <p:nvPr/>
        </p:nvSpPr>
        <p:spPr>
          <a:xfrm>
            <a:off x="762000" y="6096000"/>
            <a:ext cx="10572750" cy="514350"/>
          </a:xfrm>
          <a:prstGeom prst="rect">
            <a:avLst/>
          </a:prstGeom>
          <a:noFill/>
        </p:spPr>
        <p:txBody>
          <a:bodyPr wrap="square" lIns="0" tIns="0" rIns="0" bIns="0">
            <a:noAutofit/>
          </a:bodyPr>
          <a:lstStyle/>
          <a:p>
            <a:pPr algn="l">
              <a:lnSpc>
                <a:spcPct val="112000"/>
              </a:lnSpc>
              <a:spcAft>
                <a:spcPts val="500"/>
              </a:spcAft>
            </a:pPr>
            <a:r>
              <a:rPr lang="vi-VN" sz="1800" b="0">
                <a:solidFill>
                  <a:srgbClr val="24332F"/>
                </a:solidFill>
                <a:latin typeface="Times New Roman"/>
                <a:ea typeface="Times New Roman"/>
                <a:cs typeface="Times New Roman"/>
              </a:rPr>
              <a:t>Đối chiếu fingerprint qua kênh tin cậy để nhận đúng khoá.</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ement 2"/>
          <p:cNvSpPr/>
          <p:nvPr/>
        </p:nvSpPr>
        <p:spPr>
          <a:xfrm>
            <a:off x="0" y="0"/>
            <a:ext cx="12192000" cy="6858000"/>
          </a:xfrm>
          <a:prstGeom prst="rect">
            <a:avLst/>
          </a:prstGeom>
          <a:solidFill>
            <a:srgbClr val="F4EFE5"/>
          </a:solidFill>
          <a:ln>
            <a:noFill/>
          </a:ln>
        </p:spPr>
      </p:sp>
      <p:sp>
        <p:nvSpPr>
          <p:cNvPr id="3" name="Element 3"/>
          <p:cNvSpPr/>
          <p:nvPr/>
        </p:nvSpPr>
        <p:spPr>
          <a:xfrm>
            <a:off x="457200" y="495300"/>
            <a:ext cx="66675" cy="800100"/>
          </a:xfrm>
          <a:prstGeom prst="rect">
            <a:avLst/>
          </a:prstGeom>
          <a:solidFill>
            <a:srgbClr val="A9472E"/>
          </a:solidFill>
          <a:ln>
            <a:noFill/>
          </a:ln>
        </p:spPr>
      </p:sp>
      <p:sp>
        <p:nvSpPr>
          <p:cNvPr id="4" name="Element 4"/>
          <p:cNvSpPr txBox="1"/>
          <p:nvPr/>
        </p:nvSpPr>
        <p:spPr>
          <a:xfrm>
            <a:off x="762000" y="495300"/>
            <a:ext cx="10477500" cy="323850"/>
          </a:xfrm>
          <a:prstGeom prst="rect">
            <a:avLst/>
          </a:prstGeom>
          <a:noFill/>
        </p:spPr>
        <p:txBody>
          <a:bodyPr wrap="square" lIns="0" tIns="0" rIns="0" bIns="0">
            <a:noAutofit/>
          </a:bodyPr>
          <a:lstStyle/>
          <a:p>
            <a:pPr algn="l">
              <a:lnSpc>
                <a:spcPct val="112000"/>
              </a:lnSpc>
              <a:spcAft>
                <a:spcPts val="500"/>
              </a:spcAft>
            </a:pPr>
            <a:r>
              <a:rPr lang="vi-VN" sz="2000" b="1" dirty="0">
                <a:solidFill>
                  <a:srgbClr val="A9472E"/>
                </a:solidFill>
                <a:latin typeface="Times New Roman"/>
                <a:ea typeface="Times New Roman"/>
                <a:cs typeface="Times New Roman"/>
              </a:rPr>
              <a:t>03 / QUẢN LÝ KHOÁ </a:t>
            </a:r>
          </a:p>
        </p:txBody>
      </p:sp>
      <p:sp>
        <p:nvSpPr>
          <p:cNvPr id="5" name="Element 5"/>
          <p:cNvSpPr txBox="1"/>
          <p:nvPr/>
        </p:nvSpPr>
        <p:spPr>
          <a:xfrm>
            <a:off x="742950" y="1000125"/>
            <a:ext cx="10620375" cy="990600"/>
          </a:xfrm>
          <a:prstGeom prst="rect">
            <a:avLst/>
          </a:prstGeom>
          <a:noFill/>
        </p:spPr>
        <p:txBody>
          <a:bodyPr wrap="square" lIns="0" tIns="0" rIns="0" bIns="0">
            <a:noAutofit/>
          </a:bodyPr>
          <a:lstStyle/>
          <a:p>
            <a:pPr algn="l">
              <a:lnSpc>
                <a:spcPct val="112000"/>
              </a:lnSpc>
              <a:spcAft>
                <a:spcPts val="500"/>
              </a:spcAft>
            </a:pPr>
            <a:r>
              <a:rPr lang="vi-VN" sz="2500" b="1">
                <a:solidFill>
                  <a:srgbClr val="24332F"/>
                </a:solidFill>
                <a:latin typeface="Times New Roman"/>
                <a:ea typeface="Times New Roman"/>
                <a:cs typeface="Times New Roman"/>
              </a:rPr>
              <a:t>Lưu khoá để sử dụng qua nhiều lần chạy</a:t>
            </a:r>
          </a:p>
        </p:txBody>
      </p:sp>
      <p:sp>
        <p:nvSpPr>
          <p:cNvPr id="6" name="Element 6"/>
          <p:cNvSpPr txBox="1"/>
          <p:nvPr/>
        </p:nvSpPr>
        <p:spPr>
          <a:xfrm>
            <a:off x="762000" y="2019300"/>
            <a:ext cx="10620375" cy="628650"/>
          </a:xfrm>
          <a:prstGeom prst="rect">
            <a:avLst/>
          </a:prstGeom>
          <a:noFill/>
        </p:spPr>
        <p:txBody>
          <a:bodyPr wrap="square" lIns="0" tIns="0" rIns="0" bIns="0">
            <a:noAutofit/>
          </a:bodyPr>
          <a:lstStyle/>
          <a:p>
            <a:pPr algn="l">
              <a:lnSpc>
                <a:spcPct val="112000"/>
              </a:lnSpc>
              <a:spcAft>
                <a:spcPts val="500"/>
              </a:spcAft>
            </a:pPr>
            <a:r>
              <a:rPr lang="vi-VN" sz="1800" b="1" dirty="0">
                <a:latin typeface="Times New Roman"/>
                <a:ea typeface="Times New Roman"/>
                <a:cs typeface="Times New Roman"/>
              </a:rPr>
              <a:t>Không sinh cặp RSA mới mỗi khi mở lại ứng dụng.</a:t>
            </a:r>
          </a:p>
        </p:txBody>
      </p:sp>
      <p:sp>
        <p:nvSpPr>
          <p:cNvPr id="7" name="Element 7"/>
          <p:cNvSpPr/>
          <p:nvPr/>
        </p:nvSpPr>
        <p:spPr>
          <a:xfrm>
            <a:off x="762000" y="2943225"/>
            <a:ext cx="10572750" cy="19050"/>
          </a:xfrm>
          <a:prstGeom prst="rect">
            <a:avLst/>
          </a:prstGeom>
          <a:solidFill>
            <a:srgbClr val="A9472E"/>
          </a:solidFill>
          <a:ln>
            <a:noFill/>
          </a:ln>
        </p:spPr>
      </p:sp>
      <p:sp>
        <p:nvSpPr>
          <p:cNvPr id="8" name="Element 8"/>
          <p:cNvSpPr txBox="1"/>
          <p:nvPr/>
        </p:nvSpPr>
        <p:spPr>
          <a:xfrm>
            <a:off x="762000" y="3248025"/>
            <a:ext cx="4905375" cy="571500"/>
          </a:xfrm>
          <a:prstGeom prst="rect">
            <a:avLst/>
          </a:prstGeom>
          <a:noFill/>
        </p:spPr>
        <p:txBody>
          <a:bodyPr wrap="square" lIns="0" tIns="0" rIns="0" bIns="0">
            <a:noAutofit/>
          </a:bodyPr>
          <a:lstStyle/>
          <a:p>
            <a:pPr algn="l">
              <a:lnSpc>
                <a:spcPct val="112000"/>
              </a:lnSpc>
              <a:spcAft>
                <a:spcPts val="500"/>
              </a:spcAft>
            </a:pPr>
            <a:r>
              <a:rPr lang="vi-VN" sz="2000" b="1">
                <a:solidFill>
                  <a:srgbClr val="A9472E"/>
                </a:solidFill>
                <a:latin typeface="Times New Roman"/>
                <a:ea typeface="Times New Roman"/>
                <a:cs typeface="Times New Roman"/>
              </a:rPr>
              <a:t>PRIVATE KEY · .p12</a:t>
            </a:r>
          </a:p>
        </p:txBody>
      </p:sp>
      <p:sp>
        <p:nvSpPr>
          <p:cNvPr id="9" name="Element 9"/>
          <p:cNvSpPr txBox="1"/>
          <p:nvPr/>
        </p:nvSpPr>
        <p:spPr>
          <a:xfrm>
            <a:off x="762000" y="4019550"/>
            <a:ext cx="4905375" cy="952500"/>
          </a:xfrm>
          <a:prstGeom prst="rect">
            <a:avLst/>
          </a:prstGeom>
          <a:noFill/>
        </p:spPr>
        <p:txBody>
          <a:bodyPr wrap="square" lIns="0" tIns="0" rIns="0" bIns="0">
            <a:noAutofit/>
          </a:bodyPr>
          <a:lstStyle/>
          <a:p>
            <a:pPr algn="l">
              <a:lnSpc>
                <a:spcPct val="112000"/>
              </a:lnSpc>
              <a:spcAft>
                <a:spcPts val="500"/>
              </a:spcAft>
            </a:pPr>
            <a:r>
              <a:rPr lang="vi-VN" sz="1800" b="0" dirty="0">
                <a:solidFill>
                  <a:srgbClr val="24332F"/>
                </a:solidFill>
                <a:latin typeface="Times New Roman"/>
                <a:ea typeface="Times New Roman"/>
                <a:cs typeface="Times New Roman"/>
              </a:rPr>
              <a:t>Keystore có mật khẩu</a:t>
            </a:r>
          </a:p>
          <a:p>
            <a:pPr algn="l">
              <a:lnSpc>
                <a:spcPct val="112000"/>
              </a:lnSpc>
              <a:spcAft>
                <a:spcPts val="500"/>
              </a:spcAft>
            </a:pPr>
            <a:r>
              <a:rPr lang="vi-VN" sz="1800" b="0">
                <a:solidFill>
                  <a:srgbClr val="24332F"/>
                </a:solidFill>
                <a:latin typeface="Times New Roman"/>
                <a:ea typeface="Times New Roman"/>
                <a:cs typeface="Times New Roman"/>
              </a:rPr>
              <a:t>Giữ kín, sao lưu có bảo vệ</a:t>
            </a:r>
          </a:p>
        </p:txBody>
      </p:sp>
      <p:sp>
        <p:nvSpPr>
          <p:cNvPr id="10" name="Element 10"/>
          <p:cNvSpPr/>
          <p:nvPr/>
        </p:nvSpPr>
        <p:spPr>
          <a:xfrm>
            <a:off x="6076950" y="3257550"/>
            <a:ext cx="9525" cy="1724025"/>
          </a:xfrm>
          <a:prstGeom prst="rect">
            <a:avLst/>
          </a:prstGeom>
          <a:solidFill>
            <a:srgbClr val="D5CDBE"/>
          </a:solidFill>
          <a:ln>
            <a:noFill/>
          </a:ln>
        </p:spPr>
      </p:sp>
      <p:sp>
        <p:nvSpPr>
          <p:cNvPr id="11" name="Element 11"/>
          <p:cNvSpPr txBox="1"/>
          <p:nvPr/>
        </p:nvSpPr>
        <p:spPr>
          <a:xfrm>
            <a:off x="6572250" y="3248025"/>
            <a:ext cx="4762500" cy="571500"/>
          </a:xfrm>
          <a:prstGeom prst="rect">
            <a:avLst/>
          </a:prstGeom>
          <a:noFill/>
        </p:spPr>
        <p:txBody>
          <a:bodyPr wrap="square" lIns="0" tIns="0" rIns="0" bIns="0">
            <a:noAutofit/>
          </a:bodyPr>
          <a:lstStyle/>
          <a:p>
            <a:pPr algn="l">
              <a:lnSpc>
                <a:spcPct val="112000"/>
              </a:lnSpc>
              <a:spcAft>
                <a:spcPts val="500"/>
              </a:spcAft>
            </a:pPr>
            <a:r>
              <a:rPr lang="vi-VN" sz="2000" b="1">
                <a:solidFill>
                  <a:srgbClr val="A9472E"/>
                </a:solidFill>
                <a:latin typeface="Times New Roman"/>
                <a:ea typeface="Times New Roman"/>
                <a:cs typeface="Times New Roman"/>
              </a:rPr>
              <a:t>PUBLIC KEY · .cer</a:t>
            </a:r>
          </a:p>
        </p:txBody>
      </p:sp>
      <p:sp>
        <p:nvSpPr>
          <p:cNvPr id="12" name="Element 12"/>
          <p:cNvSpPr txBox="1"/>
          <p:nvPr/>
        </p:nvSpPr>
        <p:spPr>
          <a:xfrm>
            <a:off x="6572250" y="4019550"/>
            <a:ext cx="4762500" cy="952500"/>
          </a:xfrm>
          <a:prstGeom prst="rect">
            <a:avLst/>
          </a:prstGeom>
          <a:noFill/>
        </p:spPr>
        <p:txBody>
          <a:bodyPr wrap="square" lIns="0" tIns="0" rIns="0" bIns="0">
            <a:noAutofit/>
          </a:bodyPr>
          <a:lstStyle/>
          <a:p>
            <a:pPr algn="l">
              <a:lnSpc>
                <a:spcPct val="112000"/>
              </a:lnSpc>
              <a:spcAft>
                <a:spcPts val="500"/>
              </a:spcAft>
            </a:pPr>
            <a:r>
              <a:rPr lang="vi-VN" sz="1800" b="0">
                <a:solidFill>
                  <a:srgbClr val="24332F"/>
                </a:solidFill>
                <a:latin typeface="Times New Roman"/>
                <a:ea typeface="Times New Roman"/>
                <a:cs typeface="Times New Roman"/>
              </a:rPr>
              <a:t>Chia sẻ cho bên còn lại</a:t>
            </a:r>
          </a:p>
          <a:p>
            <a:pPr algn="l">
              <a:lnSpc>
                <a:spcPct val="112000"/>
              </a:lnSpc>
              <a:spcAft>
                <a:spcPts val="500"/>
              </a:spcAft>
            </a:pPr>
            <a:r>
              <a:rPr lang="vi-VN" sz="1800" b="0">
                <a:solidFill>
                  <a:srgbClr val="24332F"/>
                </a:solidFill>
                <a:latin typeface="Times New Roman"/>
                <a:ea typeface="Times New Roman"/>
                <a:cs typeface="Times New Roman"/>
              </a:rPr>
              <a:t>Xác minh bằng fingerprint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ement 2"/>
          <p:cNvSpPr/>
          <p:nvPr/>
        </p:nvSpPr>
        <p:spPr>
          <a:xfrm>
            <a:off x="0" y="0"/>
            <a:ext cx="12192000" cy="6858000"/>
          </a:xfrm>
          <a:prstGeom prst="rect">
            <a:avLst/>
          </a:prstGeom>
          <a:solidFill>
            <a:srgbClr val="182D28"/>
          </a:solidFill>
          <a:ln>
            <a:noFill/>
          </a:ln>
        </p:spPr>
      </p:sp>
      <p:sp>
        <p:nvSpPr>
          <p:cNvPr id="3" name="Element 3"/>
          <p:cNvSpPr txBox="1"/>
          <p:nvPr/>
        </p:nvSpPr>
        <p:spPr>
          <a:xfrm>
            <a:off x="857250" y="2190750"/>
            <a:ext cx="10477500" cy="2190750"/>
          </a:xfrm>
          <a:prstGeom prst="rect">
            <a:avLst/>
          </a:prstGeom>
          <a:noFill/>
        </p:spPr>
        <p:txBody>
          <a:bodyPr wrap="square" lIns="0" tIns="0" rIns="0" bIns="0">
            <a:noAutofit/>
          </a:bodyPr>
          <a:lstStyle/>
          <a:p>
            <a:pPr algn="ctr">
              <a:lnSpc>
                <a:spcPct val="112000"/>
              </a:lnSpc>
              <a:spcAft>
                <a:spcPts val="500"/>
              </a:spcAft>
            </a:pPr>
            <a:r>
              <a:rPr lang="vi-VN" sz="8800" b="1">
                <a:solidFill>
                  <a:srgbClr val="F4EFE5"/>
                </a:solidFill>
                <a:latin typeface="Times New Roman"/>
                <a:ea typeface="Times New Roman"/>
                <a:cs typeface="Times New Roman"/>
              </a:rPr>
              <a:t>DEMO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ement 2"/>
          <p:cNvSpPr/>
          <p:nvPr/>
        </p:nvSpPr>
        <p:spPr>
          <a:xfrm>
            <a:off x="0" y="290456"/>
            <a:ext cx="12192000" cy="6858000"/>
          </a:xfrm>
          <a:prstGeom prst="rect">
            <a:avLst/>
          </a:prstGeom>
          <a:solidFill>
            <a:srgbClr val="F4EFE5"/>
          </a:solidFill>
          <a:ln>
            <a:noFill/>
          </a:ln>
        </p:spPr>
        <p:txBody>
          <a:bodyPr/>
          <a:lstStyle/>
          <a:p>
            <a:endParaRPr lang="en-VN"/>
          </a:p>
        </p:txBody>
      </p:sp>
      <p:sp>
        <p:nvSpPr>
          <p:cNvPr id="3" name="Element 3"/>
          <p:cNvSpPr/>
          <p:nvPr/>
        </p:nvSpPr>
        <p:spPr>
          <a:xfrm>
            <a:off x="457200" y="495300"/>
            <a:ext cx="66675" cy="800100"/>
          </a:xfrm>
          <a:prstGeom prst="rect">
            <a:avLst/>
          </a:prstGeom>
          <a:solidFill>
            <a:srgbClr val="A9472E"/>
          </a:solidFill>
          <a:ln>
            <a:noFill/>
          </a:ln>
        </p:spPr>
      </p:sp>
      <p:sp>
        <p:nvSpPr>
          <p:cNvPr id="5" name="Element 5"/>
          <p:cNvSpPr txBox="1"/>
          <p:nvPr/>
        </p:nvSpPr>
        <p:spPr>
          <a:xfrm>
            <a:off x="714375" y="738188"/>
            <a:ext cx="10620375" cy="990600"/>
          </a:xfrm>
          <a:prstGeom prst="rect">
            <a:avLst/>
          </a:prstGeom>
          <a:noFill/>
        </p:spPr>
        <p:txBody>
          <a:bodyPr wrap="square" lIns="0" tIns="0" rIns="0" bIns="0">
            <a:noAutofit/>
          </a:bodyPr>
          <a:lstStyle/>
          <a:p>
            <a:pPr algn="l">
              <a:lnSpc>
                <a:spcPct val="112000"/>
              </a:lnSpc>
              <a:spcAft>
                <a:spcPts val="500"/>
              </a:spcAft>
            </a:pPr>
            <a:r>
              <a:rPr lang="vi-VN" sz="2500" b="1" dirty="0">
                <a:solidFill>
                  <a:srgbClr val="24332F"/>
                </a:solidFill>
                <a:latin typeface="Times New Roman"/>
                <a:ea typeface="Times New Roman"/>
                <a:cs typeface="Times New Roman"/>
              </a:rPr>
              <a:t>Giới hạn và hướng phát triển</a:t>
            </a:r>
          </a:p>
        </p:txBody>
      </p:sp>
      <p:sp>
        <p:nvSpPr>
          <p:cNvPr id="7" name="Element 7"/>
          <p:cNvSpPr/>
          <p:nvPr/>
        </p:nvSpPr>
        <p:spPr>
          <a:xfrm>
            <a:off x="762000" y="3028950"/>
            <a:ext cx="4714875" cy="9525"/>
          </a:xfrm>
          <a:prstGeom prst="rect">
            <a:avLst/>
          </a:prstGeom>
          <a:solidFill>
            <a:srgbClr val="A9472E"/>
          </a:solidFill>
          <a:ln>
            <a:noFill/>
          </a:ln>
        </p:spPr>
      </p:sp>
      <p:sp>
        <p:nvSpPr>
          <p:cNvPr id="8" name="Element 8"/>
          <p:cNvSpPr txBox="1"/>
          <p:nvPr/>
        </p:nvSpPr>
        <p:spPr>
          <a:xfrm>
            <a:off x="714375" y="1300163"/>
            <a:ext cx="4714875" cy="619125"/>
          </a:xfrm>
          <a:prstGeom prst="rect">
            <a:avLst/>
          </a:prstGeom>
          <a:noFill/>
        </p:spPr>
        <p:txBody>
          <a:bodyPr wrap="square" lIns="0" tIns="0" rIns="0" bIns="0">
            <a:noAutofit/>
          </a:bodyPr>
          <a:lstStyle/>
          <a:p>
            <a:pPr algn="l">
              <a:lnSpc>
                <a:spcPct val="112000"/>
              </a:lnSpc>
              <a:spcAft>
                <a:spcPts val="500"/>
              </a:spcAft>
            </a:pPr>
            <a:r>
              <a:rPr lang="vi-VN" sz="2000" b="1" dirty="0">
                <a:solidFill>
                  <a:srgbClr val="A9472E"/>
                </a:solidFill>
                <a:latin typeface="Times New Roman"/>
                <a:ea typeface="Times New Roman"/>
                <a:cs typeface="Times New Roman"/>
              </a:rPr>
              <a:t>GIỚI HẠN HIỆN TẠI</a:t>
            </a:r>
          </a:p>
        </p:txBody>
      </p:sp>
      <p:sp>
        <p:nvSpPr>
          <p:cNvPr id="9" name="Element 9"/>
          <p:cNvSpPr txBox="1"/>
          <p:nvPr/>
        </p:nvSpPr>
        <p:spPr>
          <a:xfrm>
            <a:off x="714375" y="1712091"/>
            <a:ext cx="4714875" cy="1285875"/>
          </a:xfrm>
          <a:prstGeom prst="rect">
            <a:avLst/>
          </a:prstGeom>
          <a:noFill/>
        </p:spPr>
        <p:txBody>
          <a:bodyPr wrap="square" lIns="0" tIns="0" rIns="0" bIns="0">
            <a:noAutofit/>
          </a:bodyPr>
          <a:lstStyle/>
          <a:p>
            <a:pPr algn="l">
              <a:lnSpc>
                <a:spcPct val="112000"/>
              </a:lnSpc>
              <a:spcAft>
                <a:spcPts val="500"/>
              </a:spcAft>
            </a:pPr>
            <a:r>
              <a:rPr lang="vi-VN" sz="1800" b="0" dirty="0">
                <a:solidFill>
                  <a:srgbClr val="24332F"/>
                </a:solidFill>
                <a:latin typeface="Times New Roman"/>
                <a:ea typeface="Times New Roman"/>
                <a:cs typeface="Times New Roman"/>
              </a:rPr>
              <a:t>- Tin máy và người vận hành.</a:t>
            </a:r>
          </a:p>
          <a:p>
            <a:pPr algn="l">
              <a:lnSpc>
                <a:spcPct val="112000"/>
              </a:lnSpc>
              <a:spcAft>
                <a:spcPts val="500"/>
              </a:spcAft>
            </a:pPr>
            <a:r>
              <a:rPr lang="vi-VN" sz="1800" b="0" dirty="0">
                <a:solidFill>
                  <a:srgbClr val="24332F"/>
                </a:solidFill>
                <a:latin typeface="Times New Roman"/>
                <a:ea typeface="Times New Roman"/>
                <a:cs typeface="Times New Roman"/>
              </a:rPr>
              <a:t>- Chưa chống replay (tấn công phát lại).</a:t>
            </a:r>
          </a:p>
          <a:p>
            <a:pPr algn="l">
              <a:lnSpc>
                <a:spcPct val="112000"/>
              </a:lnSpc>
              <a:spcAft>
                <a:spcPts val="500"/>
              </a:spcAft>
            </a:pPr>
            <a:r>
              <a:rPr lang="vi-VN" sz="1800" b="0" dirty="0">
                <a:solidFill>
                  <a:srgbClr val="24332F"/>
                </a:solidFill>
                <a:latin typeface="Times New Roman"/>
                <a:ea typeface="Times New Roman"/>
                <a:cs typeface="Times New Roman"/>
              </a:rPr>
              <a:t>- Chữ ký không quét mã độc.</a:t>
            </a:r>
          </a:p>
        </p:txBody>
      </p:sp>
      <p:sp>
        <p:nvSpPr>
          <p:cNvPr id="10" name="Element 10"/>
          <p:cNvSpPr/>
          <p:nvPr/>
        </p:nvSpPr>
        <p:spPr>
          <a:xfrm>
            <a:off x="6572250" y="3028950"/>
            <a:ext cx="4762500" cy="9525"/>
          </a:xfrm>
          <a:prstGeom prst="rect">
            <a:avLst/>
          </a:prstGeom>
          <a:solidFill>
            <a:srgbClr val="A9472E"/>
          </a:solidFill>
          <a:ln>
            <a:noFill/>
          </a:ln>
        </p:spPr>
      </p:sp>
      <p:sp>
        <p:nvSpPr>
          <p:cNvPr id="11" name="Element 11"/>
          <p:cNvSpPr txBox="1"/>
          <p:nvPr/>
        </p:nvSpPr>
        <p:spPr>
          <a:xfrm>
            <a:off x="6572250" y="1300163"/>
            <a:ext cx="4762500" cy="619125"/>
          </a:xfrm>
          <a:prstGeom prst="rect">
            <a:avLst/>
          </a:prstGeom>
          <a:noFill/>
        </p:spPr>
        <p:txBody>
          <a:bodyPr wrap="square" lIns="0" tIns="0" rIns="0" bIns="0">
            <a:noAutofit/>
          </a:bodyPr>
          <a:lstStyle/>
          <a:p>
            <a:pPr algn="l">
              <a:lnSpc>
                <a:spcPct val="112000"/>
              </a:lnSpc>
              <a:spcAft>
                <a:spcPts val="500"/>
              </a:spcAft>
            </a:pPr>
            <a:r>
              <a:rPr lang="vi-VN" sz="2000" b="1" dirty="0">
                <a:solidFill>
                  <a:srgbClr val="A9472E"/>
                </a:solidFill>
                <a:latin typeface="Times New Roman"/>
                <a:ea typeface="Times New Roman"/>
                <a:cs typeface="Times New Roman"/>
              </a:rPr>
              <a:t>HAI HƯỚNG PHÁT TRIỂN</a:t>
            </a:r>
          </a:p>
        </p:txBody>
      </p:sp>
      <p:sp>
        <p:nvSpPr>
          <p:cNvPr id="12" name="Element 12"/>
          <p:cNvSpPr txBox="1"/>
          <p:nvPr/>
        </p:nvSpPr>
        <p:spPr>
          <a:xfrm>
            <a:off x="6572249" y="1919288"/>
            <a:ext cx="4762500" cy="1285875"/>
          </a:xfrm>
          <a:prstGeom prst="rect">
            <a:avLst/>
          </a:prstGeom>
          <a:noFill/>
        </p:spPr>
        <p:txBody>
          <a:bodyPr wrap="square" lIns="0" tIns="0" rIns="0" bIns="0">
            <a:noAutofit/>
          </a:bodyPr>
          <a:lstStyle/>
          <a:p>
            <a:pPr algn="l">
              <a:lnSpc>
                <a:spcPct val="112000"/>
              </a:lnSpc>
              <a:spcAft>
                <a:spcPts val="500"/>
              </a:spcAft>
            </a:pPr>
            <a:r>
              <a:rPr lang="vi-VN" sz="1800" b="0" dirty="0">
                <a:solidFill>
                  <a:srgbClr val="24332F"/>
                </a:solidFill>
                <a:latin typeface="Times New Roman"/>
                <a:ea typeface="Times New Roman"/>
                <a:cs typeface="Times New Roman"/>
              </a:rPr>
              <a:t>- Ứng dụng Desktop: chỉ gửi gói bảo mật.</a:t>
            </a:r>
          </a:p>
          <a:p>
            <a:pPr algn="l">
              <a:lnSpc>
                <a:spcPct val="112000"/>
              </a:lnSpc>
              <a:spcAft>
                <a:spcPts val="500"/>
              </a:spcAft>
            </a:pPr>
            <a:r>
              <a:rPr lang="vi-VN" sz="1800" b="0" dirty="0">
                <a:solidFill>
                  <a:srgbClr val="24332F"/>
                </a:solidFill>
                <a:latin typeface="Times New Roman"/>
                <a:ea typeface="Times New Roman"/>
                <a:cs typeface="Times New Roman"/>
              </a:rPr>
              <a:t>- Server qua mạng: HTTPS, xác thực và phân quyền.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ement 2"/>
          <p:cNvSpPr/>
          <p:nvPr/>
        </p:nvSpPr>
        <p:spPr>
          <a:xfrm>
            <a:off x="0" y="0"/>
            <a:ext cx="12192000" cy="6858000"/>
          </a:xfrm>
          <a:prstGeom prst="rect">
            <a:avLst/>
          </a:prstGeom>
          <a:solidFill>
            <a:srgbClr val="182D28"/>
          </a:solidFill>
          <a:ln>
            <a:noFill/>
          </a:ln>
        </p:spPr>
      </p:sp>
      <p:sp>
        <p:nvSpPr>
          <p:cNvPr id="3" name="Element 3"/>
          <p:cNvSpPr/>
          <p:nvPr/>
        </p:nvSpPr>
        <p:spPr>
          <a:xfrm>
            <a:off x="4400550" y="1885950"/>
            <a:ext cx="3390900" cy="9525"/>
          </a:xfrm>
          <a:prstGeom prst="rect">
            <a:avLst/>
          </a:prstGeom>
          <a:solidFill>
            <a:srgbClr val="D6B67D"/>
          </a:solidFill>
          <a:ln>
            <a:noFill/>
          </a:ln>
        </p:spPr>
      </p:sp>
      <p:sp>
        <p:nvSpPr>
          <p:cNvPr id="4" name="Element 4"/>
          <p:cNvSpPr txBox="1"/>
          <p:nvPr/>
        </p:nvSpPr>
        <p:spPr>
          <a:xfrm>
            <a:off x="857250" y="2543175"/>
            <a:ext cx="10477500" cy="2143125"/>
          </a:xfrm>
          <a:prstGeom prst="rect">
            <a:avLst/>
          </a:prstGeom>
          <a:noFill/>
        </p:spPr>
        <p:txBody>
          <a:bodyPr wrap="square" lIns="0" tIns="0" rIns="0" bIns="0">
            <a:noAutofit/>
          </a:bodyPr>
          <a:lstStyle/>
          <a:p>
            <a:pPr algn="ctr">
              <a:lnSpc>
                <a:spcPct val="112000"/>
              </a:lnSpc>
              <a:spcAft>
                <a:spcPts val="500"/>
              </a:spcAft>
            </a:pPr>
            <a:r>
              <a:rPr lang="vi-VN" sz="4200" b="1">
                <a:solidFill>
                  <a:srgbClr val="F4EFE5"/>
                </a:solidFill>
                <a:latin typeface="Times New Roman"/>
                <a:ea typeface="Times New Roman"/>
                <a:cs typeface="Times New Roman"/>
              </a:rPr>
              <a:t>CẢM ƠN THẦY</a:t>
            </a:r>
          </a:p>
          <a:p>
            <a:pPr algn="ctr">
              <a:lnSpc>
                <a:spcPct val="112000"/>
              </a:lnSpc>
              <a:spcAft>
                <a:spcPts val="500"/>
              </a:spcAft>
            </a:pPr>
            <a:r>
              <a:rPr lang="vi-VN" sz="4200" b="1">
                <a:solidFill>
                  <a:srgbClr val="F4EFE5"/>
                </a:solidFill>
                <a:latin typeface="Times New Roman"/>
                <a:ea typeface="Times New Roman"/>
                <a:cs typeface="Times New Roman"/>
              </a:rPr>
              <a:t>ĐÃ LẮNG NGHE</a:t>
            </a:r>
          </a:p>
        </p:txBody>
      </p:sp>
      <p:sp>
        <p:nvSpPr>
          <p:cNvPr id="5" name="Element 5"/>
          <p:cNvSpPr/>
          <p:nvPr/>
        </p:nvSpPr>
        <p:spPr>
          <a:xfrm>
            <a:off x="4400550" y="5257800"/>
            <a:ext cx="3390900" cy="9525"/>
          </a:xfrm>
          <a:prstGeom prst="rect">
            <a:avLst/>
          </a:prstGeom>
          <a:solidFill>
            <a:srgbClr val="D6B67D"/>
          </a:solidFill>
          <a:ln>
            <a:no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Times New Roman"/>
        <a:cs typeface="Times New Roman"/>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Times New Roman"/>
        <a:cs typeface="Times New Roman"/>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Times New Roman" panose="02110004020202020204"/>
        <a:ea typeface="Times New Roman"/>
        <a:cs typeface="Times New Roman"/>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panose="02110004020202020204"/>
        <a:ea typeface="Times New Roman"/>
        <a:cs typeface="Times New Roman"/>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1394</Words>
  <Application>Microsoft Macintosh PowerPoint</Application>
  <PresentationFormat>Widescreen</PresentationFormat>
  <Paragraphs>117</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Mã hoá lai — Nhóm 4 người — Báo cáo 5 phút</dc:title>
  <dc:subject/>
  <dc:creator>Trần Phạm Thiên Ân</dc:creator>
  <cp:keywords/>
  <dc:description>3 phần lý thuyết x 60 giây; demo 120 giây. 7 slide chính, 2 slide dự phòng ẩn.</dc:description>
  <cp:lastModifiedBy>Trần Phạm Thiên Ân</cp:lastModifiedBy>
  <cp:revision>5</cp:revision>
  <dcterms:created xsi:type="dcterms:W3CDTF">2013-01-27T09:14:16Z</dcterms:created>
  <dcterms:modified xsi:type="dcterms:W3CDTF">2026-10-29T05:04:41Z</dcterms:modified>
  <cp:category/>
</cp:coreProperties>
</file>